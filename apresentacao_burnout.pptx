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406B0C1-96D5-434E-BC01-47F3EDC537F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7B4D2B-121B-4E57-B30A-9A63E926BA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FD9BD4-EFF7-4FB0-8CDD-D24196A9A0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84A4C2-02F0-4CB6-BC5D-AA0885014C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E2E724-368B-4761-AEDD-AC3DDC28AD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02DC5-EE97-4B9B-BFC9-666C928162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B1CA79-0043-43D8-8ECC-B222F082DA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2CB0B2-4697-4BCD-9A02-7982FECECD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CBB0CF-E9A0-41A7-BEE6-06C95E0D50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AC6595-F13C-48E2-84BA-1C9ED4C16C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5E23B5-24A6-49AE-87C3-D26D085AC9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020ECB-F5EE-4B0B-B0E6-98A0AAF604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796B80-DF6A-418A-A523-36D058FB67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39543A-F9F9-43A9-BE91-F69688DD97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21BD67-F0ED-4340-8FE2-A00FE43AEB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38DEB8-C268-4018-9632-14F7A0A627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0C58F5-9505-4CFB-85E5-0F20E5F565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288019-9380-4296-999D-DBFF7DF4BA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C822DD-8EAC-4F46-A480-5CE8F73D64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7B7AA2-28C1-4DA9-8745-A30C18B91E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AF8FEC-DB62-489B-BC18-770240DECE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115925-4290-4510-AA32-00CE98E404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94360" y="502920"/>
            <a:ext cx="7771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UNIFESP — Inteligência </a:t>
            </a:r>
            <a:r>
              <a:rPr lang="en-US" sz="7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Artificial  ·  2026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94360" y="1143000"/>
            <a:ext cx="70398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Predi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ção e 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Class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ificaç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ão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de 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Risco 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de 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Burn</a:t>
            </a:r>
            <a:r>
              <a:rPr lang="en-US" sz="3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out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21720" y="2514600"/>
            <a:ext cx="5668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Pipeline de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Aprendizado de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Máquina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Aplicado à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Gestão de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Saúde </a:t>
            </a:r>
            <a:r>
              <a:rPr lang="en-US" sz="1200" b="0" i="1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Ocupacional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</a:t>
            </a: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594360" y="4343400"/>
            <a:ext cx="1324800" cy="593280"/>
          </a:xfrm>
          <a:prstGeom prst="roundRect">
            <a:avLst>
              <a:gd name="adj" fmla="val 12308"/>
            </a:avLst>
          </a:prstGeom>
          <a:solidFill>
            <a:srgbClr val="0E3B4F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13160" y="4498920"/>
            <a:ext cx="10962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ODS 3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Saúde e Bem-Estar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2103120" y="4343400"/>
            <a:ext cx="1324800" cy="593280"/>
          </a:xfrm>
          <a:prstGeom prst="roundRect">
            <a:avLst>
              <a:gd name="adj" fmla="val 12308"/>
            </a:avLst>
          </a:prstGeom>
          <a:solidFill>
            <a:srgbClr val="0E3B4F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2221920" y="4498920"/>
            <a:ext cx="10962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ODS 8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Trabalho Decente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3611880" y="4343400"/>
            <a:ext cx="1324800" cy="593280"/>
          </a:xfrm>
          <a:prstGeom prst="roundRect">
            <a:avLst>
              <a:gd name="adj" fmla="val 12308"/>
            </a:avLst>
          </a:prstGeom>
          <a:solidFill>
            <a:srgbClr val="0E3B4F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730680" y="4498920"/>
            <a:ext cx="10962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ODS 10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Reduçã</a:t>
            </a: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o de </a:t>
            </a: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Desigu</a:t>
            </a: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aldade</a:t>
            </a:r>
            <a:r>
              <a:rPr lang="en-US" sz="64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</a:t>
            </a:r>
            <a:endParaRPr lang="en-US" sz="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621720" y="5285160"/>
            <a:ext cx="52110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Breno Porto Pinheiro do </a:t>
            </a:r>
            <a:r>
              <a:rPr lang="en-US" sz="8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Prado — RA 185196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Guilherme Bento Ramos — </a:t>
            </a:r>
            <a:r>
              <a:rPr lang="en-US" sz="8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RA 185226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INTRODUÇÃO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B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ur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n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o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ut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: 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d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ef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in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iç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ã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o 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e 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re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le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v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â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n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ci</a:t>
            </a: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O foco é estimar risco estatístico, não emitir diagnóstico clínico.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94360" y="1508760"/>
            <a:ext cx="5256720" cy="1964880"/>
          </a:xfrm>
          <a:prstGeom prst="roundRect">
            <a:avLst>
              <a:gd name="adj" fmla="val 372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822960" y="1737360"/>
            <a:ext cx="13705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DEFINIÇÃO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822960" y="2057400"/>
            <a:ext cx="47538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Síndrome de exaustão emocional, despersonalização e redução do senso de realização pessoal, conforme Maslach &amp; Jackson (1981).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6172200" y="1508760"/>
            <a:ext cx="5211000" cy="1964880"/>
          </a:xfrm>
          <a:prstGeom prst="roundRect">
            <a:avLst>
              <a:gd name="adj" fmla="val 372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6400800" y="173736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RECONHECIMENTO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205740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A OMS reconheceu em 2019 o burnout como fenômeno ocupacional na CID-11.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94360" y="3840480"/>
            <a:ext cx="10788840" cy="1599120"/>
          </a:xfrm>
          <a:prstGeom prst="roundRect">
            <a:avLst>
              <a:gd name="adj" fmla="val 4571"/>
            </a:avLst>
          </a:prstGeom>
          <a:solidFill>
            <a:srgbClr val="0B2B3A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822960" y="4069080"/>
            <a:ext cx="1919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CONSEQUÊNCIAS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822960" y="4407480"/>
            <a:ext cx="9874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absenteísmo e rotatividade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doenças cardiovasculares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transtornos mentais e queda de bem-estar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INTRODUÇÃO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Alinhamento com ODS e abordagem de IA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O sistema transforma dados de survey em um escore de risco para apoiar análise ocupacional.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4"/>
          <p:cNvSpPr/>
          <p:nvPr/>
        </p:nvSpPr>
        <p:spPr>
          <a:xfrm>
            <a:off x="594360" y="1417320"/>
            <a:ext cx="3336480" cy="1599120"/>
          </a:xfrm>
          <a:prstGeom prst="roundRect">
            <a:avLst>
              <a:gd name="adj" fmla="val 457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822960" y="1645920"/>
            <a:ext cx="913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ECC71"/>
                </a:solidFill>
                <a:effectLst/>
                <a:uFillTx/>
                <a:latin typeface="Aptos"/>
              </a:rPr>
              <a:t>ODS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822960" y="192924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Saúde e Bem-Estar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822960" y="2286000"/>
            <a:ext cx="2742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Ambientes de trabalho saudáveis e redução de agravos à saúde mental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8"/>
          <p:cNvSpPr/>
          <p:nvPr/>
        </p:nvSpPr>
        <p:spPr>
          <a:xfrm>
            <a:off x="4297680" y="1417320"/>
            <a:ext cx="3336480" cy="1599120"/>
          </a:xfrm>
          <a:prstGeom prst="roundRect">
            <a:avLst>
              <a:gd name="adj" fmla="val 457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9"/>
          <p:cNvSpPr/>
          <p:nvPr/>
        </p:nvSpPr>
        <p:spPr>
          <a:xfrm>
            <a:off x="4526280" y="1645920"/>
            <a:ext cx="913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B84D"/>
                </a:solidFill>
                <a:effectLst/>
                <a:uFillTx/>
                <a:latin typeface="Aptos"/>
              </a:rPr>
              <a:t>ODS 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0"/>
          <p:cNvSpPr/>
          <p:nvPr/>
        </p:nvSpPr>
        <p:spPr>
          <a:xfrm>
            <a:off x="4526280" y="192924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Trabalho Decente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1"/>
          <p:cNvSpPr/>
          <p:nvPr/>
        </p:nvSpPr>
        <p:spPr>
          <a:xfrm>
            <a:off x="4526280" y="2286000"/>
            <a:ext cx="2742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Condições de trabalho seguras, saudáveis e sustentáveis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2"/>
          <p:cNvSpPr/>
          <p:nvPr/>
        </p:nvSpPr>
        <p:spPr>
          <a:xfrm>
            <a:off x="8001000" y="1417320"/>
            <a:ext cx="3336480" cy="1599120"/>
          </a:xfrm>
          <a:prstGeom prst="roundRect">
            <a:avLst>
              <a:gd name="adj" fmla="val 457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8229600" y="1645920"/>
            <a:ext cx="913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25C54"/>
                </a:solidFill>
                <a:effectLst/>
                <a:uFillTx/>
                <a:latin typeface="Aptos"/>
              </a:rPr>
              <a:t>ODS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8229600" y="1929240"/>
            <a:ext cx="26506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Redução das Desigualdades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5"/>
          <p:cNvSpPr/>
          <p:nvPr/>
        </p:nvSpPr>
        <p:spPr>
          <a:xfrm>
            <a:off x="8229600" y="2286000"/>
            <a:ext cx="2742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Comparação entre subgrupos para orientar análises de equidade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6"/>
          <p:cNvSpPr/>
          <p:nvPr/>
        </p:nvSpPr>
        <p:spPr>
          <a:xfrm>
            <a:off x="594360" y="3703320"/>
            <a:ext cx="10926000" cy="1507680"/>
          </a:xfrm>
          <a:prstGeom prst="roundRect">
            <a:avLst>
              <a:gd name="adj" fmla="val 4848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822960" y="39502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ABORDAGEM DE IA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8"/>
          <p:cNvSpPr/>
          <p:nvPr/>
        </p:nvSpPr>
        <p:spPr>
          <a:xfrm>
            <a:off x="822960" y="4343400"/>
            <a:ext cx="99658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modelos de ML buscam padrões em dados estruturados de survey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features: regime, carga horária, saúde reportada, isolamento e equilíbrio vida-trabalho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saída: escore estatístico em [0,1], com classificação de risco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0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DATASET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Remote Work Health Impact Survey 2025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Kaggle — Pratyush Puri, jun/2025.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594360" y="1417320"/>
            <a:ext cx="10880280" cy="1233360"/>
          </a:xfrm>
          <a:prstGeom prst="roundRect">
            <a:avLst>
              <a:gd name="adj" fmla="val 5926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"/>
          <p:cNvSpPr/>
          <p:nvPr/>
        </p:nvSpPr>
        <p:spPr>
          <a:xfrm>
            <a:off x="914400" y="1691640"/>
            <a:ext cx="18277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38D0B0"/>
                </a:solidFill>
                <a:effectLst/>
                <a:uFillTx/>
                <a:latin typeface="Aptos Display"/>
                <a:ea typeface="Aptos Display"/>
              </a:rPr>
              <a:t>3.157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6"/>
          <p:cNvSpPr/>
          <p:nvPr/>
        </p:nvSpPr>
        <p:spPr>
          <a:xfrm>
            <a:off x="914400" y="2130480"/>
            <a:ext cx="1827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registros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7"/>
          <p:cNvSpPr/>
          <p:nvPr/>
        </p:nvSpPr>
        <p:spPr>
          <a:xfrm>
            <a:off x="3200400" y="1691640"/>
            <a:ext cx="18277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7ED7E8"/>
                </a:solidFill>
                <a:effectLst/>
                <a:uFillTx/>
                <a:latin typeface="Aptos Display"/>
                <a:ea typeface="Aptos Display"/>
              </a:rPr>
              <a:t>14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8"/>
          <p:cNvSpPr/>
          <p:nvPr/>
        </p:nvSpPr>
        <p:spPr>
          <a:xfrm>
            <a:off x="3200400" y="2130480"/>
            <a:ext cx="1827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colunas originais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9"/>
          <p:cNvSpPr/>
          <p:nvPr/>
        </p:nvSpPr>
        <p:spPr>
          <a:xfrm>
            <a:off x="5486400" y="1691640"/>
            <a:ext cx="18277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B84D"/>
                </a:solidFill>
                <a:effectLst/>
                <a:uFillTx/>
                <a:latin typeface="Aptos Display"/>
                <a:ea typeface="Aptos Display"/>
              </a:rPr>
              <a:t>12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5486400" y="2130480"/>
            <a:ext cx="1827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features usadas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7772400" y="1691640"/>
            <a:ext cx="18277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25C54"/>
                </a:solidFill>
                <a:effectLst/>
                <a:uFillTx/>
                <a:latin typeface="Aptos Display"/>
                <a:ea typeface="Aptos Display"/>
              </a:rPr>
              <a:t>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2"/>
          <p:cNvSpPr/>
          <p:nvPr/>
        </p:nvSpPr>
        <p:spPr>
          <a:xfrm>
            <a:off x="7772400" y="2130480"/>
            <a:ext cx="1827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classes-alvo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594360" y="3063240"/>
            <a:ext cx="5211000" cy="2056320"/>
          </a:xfrm>
          <a:prstGeom prst="roundRect">
            <a:avLst>
              <a:gd name="adj" fmla="val 35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822960" y="3337560"/>
            <a:ext cx="913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ALVO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822960" y="3703320"/>
            <a:ext cx="44794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Burnout_Level foi convertido para escala ordinal: Low→0, Medium→1, High→2.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822960" y="4370760"/>
            <a:ext cx="4113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Low: 23,6%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Medium: 43,3%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High: 33,1%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0" descr="/mnt/data/ppt_media/image-3-1.png"/>
          <p:cNvPicPr/>
          <p:nvPr/>
        </p:nvPicPr>
        <p:blipFill>
          <a:blip r:embed="rId1"/>
          <a:stretch/>
        </p:blipFill>
        <p:spPr>
          <a:xfrm>
            <a:off x="6729840" y="2926080"/>
            <a:ext cx="3912840" cy="242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17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DATASET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Features usadas no modelo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Após pré-processamento, o modelo utiliza 12 variáveis.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594360" y="1508760"/>
            <a:ext cx="2513520" cy="2925000"/>
          </a:xfrm>
          <a:prstGeom prst="roundRect">
            <a:avLst>
              <a:gd name="adj" fmla="val 290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795600" y="1755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NUMÉRICAS DIRETAS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795600" y="2130480"/>
            <a:ext cx="20563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Age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Hours_Per_Week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Work_Life_Balance_Score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Social_Isolation_Score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3429000" y="1508760"/>
            <a:ext cx="2513520" cy="2925000"/>
          </a:xfrm>
          <a:prstGeom prst="roundRect">
            <a:avLst>
              <a:gd name="adj" fmla="val 290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3630240" y="1755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ORDINAIS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3630240" y="2130480"/>
            <a:ext cx="20563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Work_Arrangement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Salary_Range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>
            <a:off x="6263640" y="1508760"/>
            <a:ext cx="2513520" cy="2925000"/>
          </a:xfrm>
          <a:prstGeom prst="roundRect">
            <a:avLst>
              <a:gd name="adj" fmla="val 290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6464880" y="1755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NOMINAIS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6464880" y="2130480"/>
            <a:ext cx="20563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Gender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Region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Industry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Job_Role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Mental_Health_Status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3"/>
          <p:cNvSpPr/>
          <p:nvPr/>
        </p:nvSpPr>
        <p:spPr>
          <a:xfrm>
            <a:off x="9098280" y="1508760"/>
            <a:ext cx="2513520" cy="2925000"/>
          </a:xfrm>
          <a:prstGeom prst="roundRect">
            <a:avLst>
              <a:gd name="adj" fmla="val 290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9299520" y="1755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30" b="1" u="none" strike="noStrike">
                <a:solidFill>
                  <a:srgbClr val="2ECC71"/>
                </a:solidFill>
                <a:effectLst/>
                <a:uFillTx/>
                <a:latin typeface="Aptos"/>
                <a:ea typeface="Aptos"/>
              </a:rPr>
              <a:t>DERIVADA</a:t>
            </a:r>
            <a:endParaRPr lang="en-US" sz="7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5"/>
          <p:cNvSpPr/>
          <p:nvPr/>
        </p:nvSpPr>
        <p:spPr>
          <a:xfrm>
            <a:off x="9299520" y="2130480"/>
            <a:ext cx="20563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has_physical_issue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6"/>
          <p:cNvSpPr/>
          <p:nvPr/>
        </p:nvSpPr>
        <p:spPr>
          <a:xfrm>
            <a:off x="594360" y="4800600"/>
            <a:ext cx="10834560" cy="712080"/>
          </a:xfrm>
          <a:prstGeom prst="roundRect">
            <a:avLst>
              <a:gd name="adj" fmla="val 10256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822960" y="501084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COLUNA DESCARTADA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2880360" y="49561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Survey_Date: uniforme em jun/2025, sem variação preditiva relevante.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9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PRÉ-PROCESSAMENTO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Sequência de transformações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As transformações foram organizadas para evitar vazamento de dados.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777240" y="145404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5"/>
          <p:cNvSpPr/>
          <p:nvPr/>
        </p:nvSpPr>
        <p:spPr>
          <a:xfrm>
            <a:off x="1463040" y="160020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103120" y="141732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Remoção de nulos no alvo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777240" y="223128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463040" y="237744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2103120" y="219456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Encoding ordinal do alvo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777240" y="300852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1"/>
          <p:cNvSpPr/>
          <p:nvPr/>
        </p:nvSpPr>
        <p:spPr>
          <a:xfrm>
            <a:off x="1463040" y="315468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2"/>
          <p:cNvSpPr/>
          <p:nvPr/>
        </p:nvSpPr>
        <p:spPr>
          <a:xfrm>
            <a:off x="2103120" y="297180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Feature engineering: has_physical_issue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777240" y="37857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4"/>
          <p:cNvSpPr/>
          <p:nvPr/>
        </p:nvSpPr>
        <p:spPr>
          <a:xfrm>
            <a:off x="1463040" y="393192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103120" y="374904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Preenchimento de Mental_Health_Status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6"/>
          <p:cNvSpPr/>
          <p:nvPr/>
        </p:nvSpPr>
        <p:spPr>
          <a:xfrm>
            <a:off x="777240" y="456300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7"/>
          <p:cNvSpPr/>
          <p:nvPr/>
        </p:nvSpPr>
        <p:spPr>
          <a:xfrm>
            <a:off x="1463040" y="470916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103120" y="452628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Remoção de colunas substituídas/uniformes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6309360" y="145404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6995160" y="160020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7635240" y="141732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Encoding das categóricas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6309360" y="223128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07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3"/>
          <p:cNvSpPr/>
          <p:nvPr/>
        </p:nvSpPr>
        <p:spPr>
          <a:xfrm>
            <a:off x="6995160" y="237744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4"/>
          <p:cNvSpPr/>
          <p:nvPr/>
        </p:nvSpPr>
        <p:spPr>
          <a:xfrm>
            <a:off x="7635240" y="219456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Split 80/20 antes de qualquer ajuste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6309360" y="300852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08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6"/>
          <p:cNvSpPr/>
          <p:nvPr/>
        </p:nvSpPr>
        <p:spPr>
          <a:xfrm>
            <a:off x="6995160" y="315468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7635240" y="297180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Imputação e MinMaxScaler ajustados só no treino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8"/>
          <p:cNvSpPr/>
          <p:nvPr/>
        </p:nvSpPr>
        <p:spPr>
          <a:xfrm>
            <a:off x="6309360" y="37857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09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9"/>
          <p:cNvSpPr/>
          <p:nvPr/>
        </p:nvSpPr>
        <p:spPr>
          <a:xfrm>
            <a:off x="6995160" y="3931920"/>
            <a:ext cx="502920" cy="360"/>
          </a:xfrm>
          <a:prstGeom prst="line">
            <a:avLst/>
          </a:prstGeom>
          <a:ln w="1270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0"/>
          <p:cNvSpPr/>
          <p:nvPr/>
        </p:nvSpPr>
        <p:spPr>
          <a:xfrm>
            <a:off x="7635240" y="3749040"/>
            <a:ext cx="3930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Persistência: imputer.pkl e scaler.pkl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1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2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PRÉ-PROCESSAMENTO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Dois cuidados técnicos essenciais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Data leakage e encoding nominal foram tratados/registrados como pontos críticos.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685800" y="1508760"/>
            <a:ext cx="5073840" cy="3153600"/>
          </a:xfrm>
          <a:prstGeom prst="roundRect">
            <a:avLst>
              <a:gd name="adj" fmla="val 231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914400" y="1783080"/>
            <a:ext cx="1919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DATA LEAKAGE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914400" y="2148840"/>
            <a:ext cx="44794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Leakage ocorre quando informação do teste contamina o treino — o modelo “cola na prova”.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914400" y="2907720"/>
            <a:ext cx="43880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Split 80/20 vem antes do fit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Imputer e scaler fazem fit apenas em X_train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Teste recebe apenas transform()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8"/>
          <p:cNvSpPr/>
          <p:nvPr/>
        </p:nvSpPr>
        <p:spPr>
          <a:xfrm>
            <a:off x="6172200" y="1508760"/>
            <a:ext cx="5073840" cy="3153600"/>
          </a:xfrm>
          <a:prstGeom prst="roundRect">
            <a:avLst>
              <a:gd name="adj" fmla="val 2319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6400800" y="1783080"/>
            <a:ext cx="21020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ENCODING NOMINAL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0"/>
          <p:cNvSpPr/>
          <p:nvPr/>
        </p:nvSpPr>
        <p:spPr>
          <a:xfrm>
            <a:off x="6400800" y="2148840"/>
            <a:ext cx="44794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Industry, Region, Gender e Job_Role foram codificados como inteiros sequenciais.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1"/>
          <p:cNvSpPr/>
          <p:nvPr/>
        </p:nvSpPr>
        <p:spPr>
          <a:xfrm>
            <a:off x="6400800" y="2907720"/>
            <a:ext cx="43880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Limitação: LR interpreta como hierarquia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Árvores toleram melhor esse encoding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• Solução ideal: one-hot encoding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METODOLOGIA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Pipeline modular em 5 etapas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main.py atua como orquestrador do fluxo completo.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685800" y="1600200"/>
            <a:ext cx="1827720" cy="1233360"/>
          </a:xfrm>
          <a:prstGeom prst="roundRect">
            <a:avLst>
              <a:gd name="adj" fmla="val 592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822960" y="1783080"/>
            <a:ext cx="318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1188720" y="1774080"/>
            <a:ext cx="1096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EDA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7"/>
          <p:cNvSpPr/>
          <p:nvPr/>
        </p:nvSpPr>
        <p:spPr>
          <a:xfrm>
            <a:off x="868680" y="217620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src/eda.py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8"/>
          <p:cNvSpPr/>
          <p:nvPr/>
        </p:nvSpPr>
        <p:spPr>
          <a:xfrm>
            <a:off x="868680" y="2432160"/>
            <a:ext cx="1416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5 gráficos + resumo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9"/>
          <p:cNvSpPr/>
          <p:nvPr/>
        </p:nvSpPr>
        <p:spPr>
          <a:xfrm>
            <a:off x="2560320" y="1938600"/>
            <a:ext cx="318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0"/>
          <p:cNvSpPr/>
          <p:nvPr/>
        </p:nvSpPr>
        <p:spPr>
          <a:xfrm>
            <a:off x="2926080" y="1600200"/>
            <a:ext cx="1827720" cy="1233360"/>
          </a:xfrm>
          <a:prstGeom prst="roundRect">
            <a:avLst>
              <a:gd name="adj" fmla="val 592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1"/>
          <p:cNvSpPr/>
          <p:nvPr/>
        </p:nvSpPr>
        <p:spPr>
          <a:xfrm>
            <a:off x="3063240" y="1783080"/>
            <a:ext cx="318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2"/>
          <p:cNvSpPr/>
          <p:nvPr/>
        </p:nvSpPr>
        <p:spPr>
          <a:xfrm>
            <a:off x="3429000" y="1774080"/>
            <a:ext cx="1096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Pré-proc.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3"/>
          <p:cNvSpPr/>
          <p:nvPr/>
        </p:nvSpPr>
        <p:spPr>
          <a:xfrm>
            <a:off x="3108960" y="217620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src/preprocessing.py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4"/>
          <p:cNvSpPr/>
          <p:nvPr/>
        </p:nvSpPr>
        <p:spPr>
          <a:xfrm>
            <a:off x="3108960" y="2432160"/>
            <a:ext cx="1416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CSVs + artefatos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5"/>
          <p:cNvSpPr/>
          <p:nvPr/>
        </p:nvSpPr>
        <p:spPr>
          <a:xfrm>
            <a:off x="4800600" y="1938600"/>
            <a:ext cx="318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6"/>
          <p:cNvSpPr/>
          <p:nvPr/>
        </p:nvSpPr>
        <p:spPr>
          <a:xfrm>
            <a:off x="5166360" y="1600200"/>
            <a:ext cx="1827720" cy="1233360"/>
          </a:xfrm>
          <a:prstGeom prst="roundRect">
            <a:avLst>
              <a:gd name="adj" fmla="val 592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7"/>
          <p:cNvSpPr/>
          <p:nvPr/>
        </p:nvSpPr>
        <p:spPr>
          <a:xfrm>
            <a:off x="5303520" y="1783080"/>
            <a:ext cx="318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8"/>
          <p:cNvSpPr/>
          <p:nvPr/>
        </p:nvSpPr>
        <p:spPr>
          <a:xfrm>
            <a:off x="5669280" y="1774080"/>
            <a:ext cx="1096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Treino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9"/>
          <p:cNvSpPr/>
          <p:nvPr/>
        </p:nvSpPr>
        <p:spPr>
          <a:xfrm>
            <a:off x="5349240" y="217620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src/training.py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349240" y="2432160"/>
            <a:ext cx="1416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modelos .pkl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7040880" y="1938600"/>
            <a:ext cx="318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2"/>
          <p:cNvSpPr/>
          <p:nvPr/>
        </p:nvSpPr>
        <p:spPr>
          <a:xfrm>
            <a:off x="7406640" y="1600200"/>
            <a:ext cx="1827720" cy="1233360"/>
          </a:xfrm>
          <a:prstGeom prst="roundRect">
            <a:avLst>
              <a:gd name="adj" fmla="val 592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7543800" y="1783080"/>
            <a:ext cx="318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4"/>
          <p:cNvSpPr/>
          <p:nvPr/>
        </p:nvSpPr>
        <p:spPr>
          <a:xfrm>
            <a:off x="7909560" y="1774080"/>
            <a:ext cx="1096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Avaliação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5"/>
          <p:cNvSpPr/>
          <p:nvPr/>
        </p:nvSpPr>
        <p:spPr>
          <a:xfrm>
            <a:off x="7589520" y="217620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src/evaluation.py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6"/>
          <p:cNvSpPr/>
          <p:nvPr/>
        </p:nvSpPr>
        <p:spPr>
          <a:xfrm>
            <a:off x="7589520" y="2432160"/>
            <a:ext cx="1416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métricas + fairness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7"/>
          <p:cNvSpPr/>
          <p:nvPr/>
        </p:nvSpPr>
        <p:spPr>
          <a:xfrm>
            <a:off x="9281160" y="1938600"/>
            <a:ext cx="318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8"/>
          <p:cNvSpPr/>
          <p:nvPr/>
        </p:nvSpPr>
        <p:spPr>
          <a:xfrm>
            <a:off x="9646920" y="1600200"/>
            <a:ext cx="1827720" cy="1233360"/>
          </a:xfrm>
          <a:prstGeom prst="roundRect">
            <a:avLst>
              <a:gd name="adj" fmla="val 5926"/>
            </a:avLst>
          </a:prstGeom>
          <a:solidFill>
            <a:srgbClr val="123A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9"/>
          <p:cNvSpPr/>
          <p:nvPr/>
        </p:nvSpPr>
        <p:spPr>
          <a:xfrm>
            <a:off x="9784080" y="1783080"/>
            <a:ext cx="318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8D0B0"/>
                </a:solidFill>
                <a:effectLst/>
                <a:uFillTx/>
                <a:latin typeface="Aptos"/>
              </a:rPr>
              <a:t>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0"/>
          <p:cNvSpPr/>
          <p:nvPr/>
        </p:nvSpPr>
        <p:spPr>
          <a:xfrm>
            <a:off x="10149840" y="1774080"/>
            <a:ext cx="1096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Scoring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1"/>
          <p:cNvSpPr/>
          <p:nvPr/>
        </p:nvSpPr>
        <p:spPr>
          <a:xfrm>
            <a:off x="9829800" y="2176200"/>
            <a:ext cx="1416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8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src/scoring.py</a:t>
            </a:r>
            <a:endParaRPr lang="en-US" sz="6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2"/>
          <p:cNvSpPr/>
          <p:nvPr/>
        </p:nvSpPr>
        <p:spPr>
          <a:xfrm>
            <a:off x="9829800" y="2432160"/>
            <a:ext cx="1416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A7C2CE"/>
                </a:solidFill>
                <a:effectLst/>
                <a:uFillTx/>
                <a:latin typeface="Aptos"/>
              </a:rPr>
              <a:t>predict_burnout()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3"/>
          <p:cNvSpPr/>
          <p:nvPr/>
        </p:nvSpPr>
        <p:spPr>
          <a:xfrm>
            <a:off x="731520" y="37033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SEED = 42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4"/>
          <p:cNvSpPr/>
          <p:nvPr/>
        </p:nvSpPr>
        <p:spPr>
          <a:xfrm>
            <a:off x="731520" y="3977640"/>
            <a:ext cx="45709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Garante reprodutibilidade dos splits, árvores e buscas.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5"/>
          <p:cNvSpPr/>
          <p:nvPr/>
        </p:nvSpPr>
        <p:spPr>
          <a:xfrm>
            <a:off x="6217920" y="37033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REGRESSÃO ORDINAL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36"/>
          <p:cNvSpPr/>
          <p:nvPr/>
        </p:nvSpPr>
        <p:spPr>
          <a:xfrm>
            <a:off x="6217920" y="3977640"/>
            <a:ext cx="45709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Burnout_Level tem ordem: Low &lt; Medium &lt; High.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37"/>
          <p:cNvSpPr/>
          <p:nvPr/>
        </p:nvSpPr>
        <p:spPr>
          <a:xfrm>
            <a:off x="731520" y="4617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SCORE NORMALIZADO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38"/>
          <p:cNvSpPr/>
          <p:nvPr/>
        </p:nvSpPr>
        <p:spPr>
          <a:xfrm>
            <a:off x="731520" y="4892040"/>
            <a:ext cx="45709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Predição bruta (~0–2) / 2 → escore em [0,1].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9"/>
          <p:cNvSpPr/>
          <p:nvPr/>
        </p:nvSpPr>
        <p:spPr>
          <a:xfrm>
            <a:off x="6217920" y="4617720"/>
            <a:ext cx="2010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TEMPO DE EXECUÇÃO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40"/>
          <p:cNvSpPr/>
          <p:nvPr/>
        </p:nvSpPr>
        <p:spPr>
          <a:xfrm>
            <a:off x="6217920" y="4892040"/>
            <a:ext cx="45709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Real=20s; CPU maior por paralelismo com n_jobs=-1.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1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2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TREINAMENTO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Três modelos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 comparação começa com baseline interpretável e avança para ensembles.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777240" y="1600200"/>
            <a:ext cx="3153600" cy="2833560"/>
          </a:xfrm>
          <a:prstGeom prst="roundRect">
            <a:avLst>
              <a:gd name="adj" fmla="val 258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1051560" y="1874520"/>
            <a:ext cx="1553400" cy="309960"/>
          </a:xfrm>
          <a:prstGeom prst="roundRect">
            <a:avLst>
              <a:gd name="adj" fmla="val 23529"/>
            </a:avLst>
          </a:prstGeom>
          <a:solidFill>
            <a:srgbClr val="38D0B0">
              <a:alpha val="95000"/>
            </a:srgbClr>
          </a:solidFill>
          <a:ln w="6350">
            <a:solidFill>
              <a:srgbClr val="38D0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1106280" y="1956960"/>
            <a:ext cx="14436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baseline — OLS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1051560" y="2331720"/>
            <a:ext cx="25592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Regressão Linear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1051560" y="2788920"/>
            <a:ext cx="24678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pesos fixos e alta interpretabilidade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9"/>
          <p:cNvSpPr/>
          <p:nvPr/>
        </p:nvSpPr>
        <p:spPr>
          <a:xfrm>
            <a:off x="4480560" y="1600200"/>
            <a:ext cx="3153600" cy="2833560"/>
          </a:xfrm>
          <a:prstGeom prst="roundRect">
            <a:avLst>
              <a:gd name="adj" fmla="val 258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4754880" y="1874520"/>
            <a:ext cx="1553400" cy="309960"/>
          </a:xfrm>
          <a:prstGeom prst="roundRect">
            <a:avLst>
              <a:gd name="adj" fmla="val 23529"/>
            </a:avLst>
          </a:prstGeom>
          <a:solidFill>
            <a:srgbClr val="FFB84D">
              <a:alpha val="95000"/>
            </a:srgbClr>
          </a:solidFill>
          <a:ln w="6350">
            <a:solidFill>
              <a:srgbClr val="FFB8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4809600" y="1956960"/>
            <a:ext cx="14436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ensemble — bagging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4754880" y="2331720"/>
            <a:ext cx="25592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Random Forest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4754880" y="2788920"/>
            <a:ext cx="24678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100 árvores independentes; risco de overfitting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4"/>
          <p:cNvSpPr/>
          <p:nvPr/>
        </p:nvSpPr>
        <p:spPr>
          <a:xfrm>
            <a:off x="8183880" y="1600200"/>
            <a:ext cx="3153600" cy="2833560"/>
          </a:xfrm>
          <a:prstGeom prst="roundRect">
            <a:avLst>
              <a:gd name="adj" fmla="val 258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8458200" y="1874520"/>
            <a:ext cx="1553400" cy="309960"/>
          </a:xfrm>
          <a:prstGeom prst="roundRect">
            <a:avLst>
              <a:gd name="adj" fmla="val 23529"/>
            </a:avLst>
          </a:prstGeom>
          <a:solidFill>
            <a:srgbClr val="F25C54">
              <a:alpha val="95000"/>
            </a:srgbClr>
          </a:solidFill>
          <a:ln w="6350">
            <a:solidFill>
              <a:srgbClr val="F25C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6"/>
          <p:cNvSpPr/>
          <p:nvPr/>
        </p:nvSpPr>
        <p:spPr>
          <a:xfrm>
            <a:off x="8512920" y="1956960"/>
            <a:ext cx="14436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gradient boosting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8458200" y="2331720"/>
            <a:ext cx="25592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XGBoost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8458200" y="2788920"/>
            <a:ext cx="24678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árvores sequenciais corrigindo resíduos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0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1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TREINAMENTO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Modelo 1 — Regressão Linear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Baseline interpretável por pesos.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685800" y="1508760"/>
            <a:ext cx="5211000" cy="3290760"/>
          </a:xfrm>
          <a:prstGeom prst="roundRect">
            <a:avLst>
              <a:gd name="adj" fmla="val 2222"/>
            </a:avLst>
          </a:prstGeom>
          <a:solidFill>
            <a:srgbClr val="061E2B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914400" y="178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CÓDIGO ESSENCIAL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914400" y="2148840"/>
            <a:ext cx="461664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model = LinearRegression()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model.fit(X_train, y_train)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coef = pd.Series(model.coef_,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             index=FEATURE_COLUMNS)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    .sort_values(key=abs)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6217920" y="1508760"/>
            <a:ext cx="4890960" cy="3290760"/>
          </a:xfrm>
          <a:prstGeom prst="roundRect">
            <a:avLst>
              <a:gd name="adj" fmla="val 2222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8"/>
          <p:cNvSpPr/>
          <p:nvPr/>
        </p:nvSpPr>
        <p:spPr>
          <a:xfrm>
            <a:off x="6446520" y="178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INTERPRETAÇÃO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9"/>
          <p:cNvSpPr/>
          <p:nvPr/>
        </p:nvSpPr>
        <p:spPr>
          <a:xfrm>
            <a:off x="6482520" y="2184840"/>
            <a:ext cx="429660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Aprende uma soma ponderada: burnout = w₁×Age + ... + </a:t>
            </a:r>
            <a:br>
              <a:rPr sz="1230"/>
            </a:b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OLS minimiza a soma dos quadrados dos resíduos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Maior coeficiente: Work_Arrangement +0,364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Vantagem: interpretabilidade total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Limitação: não captura interações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TREINAMENTO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Modelo 2 — Random Forest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Ensemble com bootstrap e seleção aleatória de features.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685800" y="1508760"/>
            <a:ext cx="5211000" cy="3290760"/>
          </a:xfrm>
          <a:prstGeom prst="roundRect">
            <a:avLst>
              <a:gd name="adj" fmla="val 2222"/>
            </a:avLst>
          </a:prstGeom>
          <a:solidFill>
            <a:srgbClr val="061E2B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914400" y="178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CÓDIGO ESSENCIAL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914400" y="2148840"/>
            <a:ext cx="4616640" cy="17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model = RandomForestRegressor(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n_estimators=100,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random_state=42,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n_jobs=-1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model.fit(X_train, y_train)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model.feature_importances_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6217920" y="1508760"/>
            <a:ext cx="4890960" cy="3290760"/>
          </a:xfrm>
          <a:prstGeom prst="roundRect">
            <a:avLst>
              <a:gd name="adj" fmla="val 2222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6446520" y="178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INTERPRETAÇÃO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6446520" y="2148840"/>
            <a:ext cx="4296600" cy="178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100 árvores independentes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Cada árvore vê uma amostra bootstrap diferente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A cada divisão, usa subconjunto de features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Sem max_depth: árvores crescem sem limite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30"/>
            </a:br>
            <a:r>
              <a:rPr lang="en-US" sz="123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Resultado no teste: R² = −0,011, pior que prever a média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0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TREINAMENTO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Modelo 3 — XGBoost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Gradient boosting com busca de hiperparâmetros.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685800" y="1417320"/>
            <a:ext cx="5393880" cy="3565080"/>
          </a:xfrm>
          <a:prstGeom prst="roundRect">
            <a:avLst>
              <a:gd name="adj" fmla="val 2051"/>
            </a:avLst>
          </a:prstGeom>
          <a:solidFill>
            <a:srgbClr val="061E2B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914400" y="169164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GRID SEARCH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914400" y="2011680"/>
            <a:ext cx="4753800" cy="21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GridSearchCV(XGBRegressor(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objective="reg:squarederror"),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param_grid={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"n_estimators": [100, 200],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"max_depth": [3, 5],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  "learning_rate": [.05, .10, .20]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},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0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  cv=5, scoring="neg_mse")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7"/>
          <p:cNvSpPr/>
          <p:nvPr/>
        </p:nvSpPr>
        <p:spPr>
          <a:xfrm>
            <a:off x="6400800" y="1417320"/>
            <a:ext cx="4799520" cy="3565080"/>
          </a:xfrm>
          <a:prstGeom prst="roundRect">
            <a:avLst>
              <a:gd name="adj" fmla="val 205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8"/>
          <p:cNvSpPr/>
          <p:nvPr/>
        </p:nvSpPr>
        <p:spPr>
          <a:xfrm>
            <a:off x="6629400" y="1691640"/>
            <a:ext cx="21934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MELHOR CONFIGURAÇÃO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629400" y="2057400"/>
            <a:ext cx="415944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learning_rate = 0,05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50"/>
            </a:br>
            <a:r>
              <a:rPr lang="en-US" sz="12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max_depth = 3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50"/>
            </a:br>
            <a:r>
              <a:rPr lang="en-US" sz="12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n_estimators = 100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50"/>
            </a:br>
            <a:r>
              <a:rPr lang="en-US" sz="12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60 treinamentos na busca de hiperparâmetros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br>
              <a:rPr sz="1250"/>
            </a:br>
            <a:r>
              <a:rPr lang="en-US" sz="12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Usado no prever.py por decisão de produto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AVALIAÇÃO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Comparação no conjunto de teste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n=632; alvo ordinal 0=Low, 1=Medium, 2=High.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685800" y="1600200"/>
            <a:ext cx="2650680" cy="383040"/>
          </a:xfrm>
          <a:prstGeom prst="rect">
            <a:avLst/>
          </a:prstGeom>
          <a:solidFill>
            <a:srgbClr val="0F5062"/>
          </a:solidFill>
          <a:ln w="12700">
            <a:solidFill>
              <a:srgbClr val="0F50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740520" y="1719000"/>
            <a:ext cx="2540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Modelo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6"/>
          <p:cNvSpPr/>
          <p:nvPr/>
        </p:nvSpPr>
        <p:spPr>
          <a:xfrm>
            <a:off x="3337560" y="1600200"/>
            <a:ext cx="1233360" cy="383040"/>
          </a:xfrm>
          <a:prstGeom prst="rect">
            <a:avLst/>
          </a:prstGeom>
          <a:solidFill>
            <a:srgbClr val="0F5062"/>
          </a:solidFill>
          <a:ln w="12700">
            <a:solidFill>
              <a:srgbClr val="0F50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3392280" y="1719000"/>
            <a:ext cx="11235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MAE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8"/>
          <p:cNvSpPr/>
          <p:nvPr/>
        </p:nvSpPr>
        <p:spPr>
          <a:xfrm>
            <a:off x="4572000" y="1600200"/>
            <a:ext cx="1233360" cy="383040"/>
          </a:xfrm>
          <a:prstGeom prst="rect">
            <a:avLst/>
          </a:prstGeom>
          <a:solidFill>
            <a:srgbClr val="0F5062"/>
          </a:solidFill>
          <a:ln w="12700">
            <a:solidFill>
              <a:srgbClr val="0F50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4626720" y="1719000"/>
            <a:ext cx="11235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RMSE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5806440" y="1600200"/>
            <a:ext cx="1233360" cy="383040"/>
          </a:xfrm>
          <a:prstGeom prst="rect">
            <a:avLst/>
          </a:prstGeom>
          <a:solidFill>
            <a:srgbClr val="0F5062"/>
          </a:solidFill>
          <a:ln w="12700">
            <a:solidFill>
              <a:srgbClr val="0F50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1"/>
          <p:cNvSpPr/>
          <p:nvPr/>
        </p:nvSpPr>
        <p:spPr>
          <a:xfrm>
            <a:off x="5861160" y="1719000"/>
            <a:ext cx="11235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R²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2"/>
          <p:cNvSpPr/>
          <p:nvPr/>
        </p:nvSpPr>
        <p:spPr>
          <a:xfrm>
            <a:off x="7040880" y="1600200"/>
            <a:ext cx="4433760" cy="383040"/>
          </a:xfrm>
          <a:prstGeom prst="rect">
            <a:avLst/>
          </a:prstGeom>
          <a:solidFill>
            <a:srgbClr val="0F5062"/>
          </a:solidFill>
          <a:ln w="12700">
            <a:solidFill>
              <a:srgbClr val="0F506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3"/>
          <p:cNvSpPr/>
          <p:nvPr/>
        </p:nvSpPr>
        <p:spPr>
          <a:xfrm>
            <a:off x="7095600" y="1719000"/>
            <a:ext cx="43239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Interpretação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4"/>
          <p:cNvSpPr/>
          <p:nvPr/>
        </p:nvSpPr>
        <p:spPr>
          <a:xfrm>
            <a:off x="685800" y="1984320"/>
            <a:ext cx="2650680" cy="639000"/>
          </a:xfrm>
          <a:prstGeom prst="rect">
            <a:avLst/>
          </a:prstGeom>
          <a:solidFill>
            <a:srgbClr val="0D3B48"/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740520" y="214884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Regressão Linear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6"/>
          <p:cNvSpPr/>
          <p:nvPr/>
        </p:nvSpPr>
        <p:spPr>
          <a:xfrm>
            <a:off x="3337560" y="1984320"/>
            <a:ext cx="1233360" cy="639000"/>
          </a:xfrm>
          <a:prstGeom prst="rect">
            <a:avLst/>
          </a:prstGeom>
          <a:solidFill>
            <a:srgbClr val="0D3B48"/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7"/>
          <p:cNvSpPr/>
          <p:nvPr/>
        </p:nvSpPr>
        <p:spPr>
          <a:xfrm>
            <a:off x="3392280" y="214884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0,635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8"/>
          <p:cNvSpPr/>
          <p:nvPr/>
        </p:nvSpPr>
        <p:spPr>
          <a:xfrm>
            <a:off x="4572000" y="1984320"/>
            <a:ext cx="1233360" cy="639000"/>
          </a:xfrm>
          <a:prstGeom prst="rect">
            <a:avLst/>
          </a:prstGeom>
          <a:solidFill>
            <a:srgbClr val="0D3B48"/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4626720" y="214884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0,764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0"/>
          <p:cNvSpPr/>
          <p:nvPr/>
        </p:nvSpPr>
        <p:spPr>
          <a:xfrm>
            <a:off x="5806440" y="1984320"/>
            <a:ext cx="1233360" cy="639000"/>
          </a:xfrm>
          <a:prstGeom prst="rect">
            <a:avLst/>
          </a:prstGeom>
          <a:solidFill>
            <a:srgbClr val="0D3B48"/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1"/>
          <p:cNvSpPr/>
          <p:nvPr/>
        </p:nvSpPr>
        <p:spPr>
          <a:xfrm>
            <a:off x="5861160" y="214884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0,040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2"/>
          <p:cNvSpPr/>
          <p:nvPr/>
        </p:nvSpPr>
        <p:spPr>
          <a:xfrm>
            <a:off x="7040880" y="1984320"/>
            <a:ext cx="4433760" cy="639000"/>
          </a:xfrm>
          <a:prstGeom prst="rect">
            <a:avLst/>
          </a:prstGeom>
          <a:solidFill>
            <a:srgbClr val="0D3B48"/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3"/>
          <p:cNvSpPr/>
          <p:nvPr/>
        </p:nvSpPr>
        <p:spPr>
          <a:xfrm>
            <a:off x="7095600" y="2148840"/>
            <a:ext cx="4323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Melhor R²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4"/>
          <p:cNvSpPr/>
          <p:nvPr/>
        </p:nvSpPr>
        <p:spPr>
          <a:xfrm>
            <a:off x="685800" y="2624400"/>
            <a:ext cx="265068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5"/>
          <p:cNvSpPr/>
          <p:nvPr/>
        </p:nvSpPr>
        <p:spPr>
          <a:xfrm>
            <a:off x="740520" y="278892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Random Forest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6"/>
          <p:cNvSpPr/>
          <p:nvPr/>
        </p:nvSpPr>
        <p:spPr>
          <a:xfrm>
            <a:off x="3337560" y="262440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7"/>
          <p:cNvSpPr/>
          <p:nvPr/>
        </p:nvSpPr>
        <p:spPr>
          <a:xfrm>
            <a:off x="3392280" y="278892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0,665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28"/>
          <p:cNvSpPr/>
          <p:nvPr/>
        </p:nvSpPr>
        <p:spPr>
          <a:xfrm>
            <a:off x="4572000" y="262440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9"/>
          <p:cNvSpPr/>
          <p:nvPr/>
        </p:nvSpPr>
        <p:spPr>
          <a:xfrm>
            <a:off x="4626720" y="278892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0,784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30"/>
          <p:cNvSpPr/>
          <p:nvPr/>
        </p:nvSpPr>
        <p:spPr>
          <a:xfrm>
            <a:off x="5806440" y="262440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1"/>
          <p:cNvSpPr/>
          <p:nvPr/>
        </p:nvSpPr>
        <p:spPr>
          <a:xfrm>
            <a:off x="5861160" y="278892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25C54"/>
                </a:solidFill>
                <a:effectLst/>
                <a:uFillTx/>
                <a:latin typeface="Aptos"/>
              </a:rPr>
              <a:t>−0,011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2"/>
          <p:cNvSpPr/>
          <p:nvPr/>
        </p:nvSpPr>
        <p:spPr>
          <a:xfrm>
            <a:off x="7040880" y="2624400"/>
            <a:ext cx="44337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3"/>
          <p:cNvSpPr/>
          <p:nvPr/>
        </p:nvSpPr>
        <p:spPr>
          <a:xfrm>
            <a:off x="7095600" y="2788920"/>
            <a:ext cx="4323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Pior que prever a média; overfitting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34"/>
          <p:cNvSpPr/>
          <p:nvPr/>
        </p:nvSpPr>
        <p:spPr>
          <a:xfrm>
            <a:off x="685800" y="3264480"/>
            <a:ext cx="265068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5"/>
          <p:cNvSpPr/>
          <p:nvPr/>
        </p:nvSpPr>
        <p:spPr>
          <a:xfrm>
            <a:off x="740520" y="342900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XGBoost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6"/>
          <p:cNvSpPr/>
          <p:nvPr/>
        </p:nvSpPr>
        <p:spPr>
          <a:xfrm>
            <a:off x="3337560" y="326448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7"/>
          <p:cNvSpPr/>
          <p:nvPr/>
        </p:nvSpPr>
        <p:spPr>
          <a:xfrm>
            <a:off x="3392280" y="342900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0,640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8"/>
          <p:cNvSpPr/>
          <p:nvPr/>
        </p:nvSpPr>
        <p:spPr>
          <a:xfrm>
            <a:off x="4572000" y="326448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9"/>
          <p:cNvSpPr/>
          <p:nvPr/>
        </p:nvSpPr>
        <p:spPr>
          <a:xfrm>
            <a:off x="4626720" y="342900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0,766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0"/>
          <p:cNvSpPr/>
          <p:nvPr/>
        </p:nvSpPr>
        <p:spPr>
          <a:xfrm>
            <a:off x="5806440" y="3264480"/>
            <a:ext cx="12333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1"/>
          <p:cNvSpPr/>
          <p:nvPr/>
        </p:nvSpPr>
        <p:spPr>
          <a:xfrm>
            <a:off x="5861160" y="3429000"/>
            <a:ext cx="1123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0,036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42"/>
          <p:cNvSpPr/>
          <p:nvPr/>
        </p:nvSpPr>
        <p:spPr>
          <a:xfrm>
            <a:off x="7040880" y="3264480"/>
            <a:ext cx="4433760" cy="639000"/>
          </a:xfrm>
          <a:prstGeom prst="rect">
            <a:avLst/>
          </a:prstGeom>
          <a:solidFill>
            <a:srgbClr val="0D3344">
              <a:alpha val="90000"/>
            </a:srgbClr>
          </a:solidFill>
          <a:ln w="635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43"/>
          <p:cNvSpPr/>
          <p:nvPr/>
        </p:nvSpPr>
        <p:spPr>
          <a:xfrm>
            <a:off x="7095600" y="3429000"/>
            <a:ext cx="43239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F5FAFC"/>
                </a:solidFill>
                <a:effectLst/>
                <a:uFillTx/>
                <a:latin typeface="Aptos"/>
              </a:rPr>
              <a:t>Próximo da LR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4"/>
          <p:cNvSpPr/>
          <p:nvPr/>
        </p:nvSpPr>
        <p:spPr>
          <a:xfrm>
            <a:off x="685800" y="4617720"/>
            <a:ext cx="10788840" cy="776160"/>
          </a:xfrm>
          <a:prstGeom prst="roundRect">
            <a:avLst>
              <a:gd name="adj" fmla="val 9412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45"/>
          <p:cNvSpPr/>
          <p:nvPr/>
        </p:nvSpPr>
        <p:spPr>
          <a:xfrm>
            <a:off x="914400" y="4864680"/>
            <a:ext cx="10285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MAE = erro médio absoluto na escala 0–2. RMSE penaliza erros grandes. R² = porcentagem da variância explicada; R²&lt;0 significa pior que prever a média.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6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7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Correlação de Pearson: sinal linear fraco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Antes de qualquer modelo, os dados já mostram pouca relação linear com o alvo.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7" name="Image 0" descr="/mnt/data/ppt_media/image-4-1.png"/>
          <p:cNvPicPr/>
          <p:nvPr/>
        </p:nvPicPr>
        <p:blipFill>
          <a:blip r:embed="rId1"/>
          <a:stretch/>
        </p:blipFill>
        <p:spPr>
          <a:xfrm>
            <a:off x="869760" y="1417320"/>
            <a:ext cx="4477680" cy="40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Shape 4"/>
          <p:cNvSpPr/>
          <p:nvPr/>
        </p:nvSpPr>
        <p:spPr>
          <a:xfrm>
            <a:off x="5943600" y="1600200"/>
            <a:ext cx="5119560" cy="3290760"/>
          </a:xfrm>
          <a:prstGeom prst="roundRect">
            <a:avLst>
              <a:gd name="adj" fmla="val 2222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6217920" y="1874520"/>
            <a:ext cx="21934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LEITURA PRINCIPAL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6217920" y="2240280"/>
            <a:ext cx="438804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Maior correlação com burnout: Social_Isolation_Score = 0,044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Age, Hours e WLB_Score ≈ 0 com o alvo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5943600" y="5074920"/>
            <a:ext cx="5119560" cy="529200"/>
          </a:xfrm>
          <a:prstGeom prst="roundRect">
            <a:avLst>
              <a:gd name="adj" fmla="val 13793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8"/>
          <p:cNvSpPr/>
          <p:nvPr/>
        </p:nvSpPr>
        <p:spPr>
          <a:xfrm>
            <a:off x="6217920" y="5230440"/>
            <a:ext cx="4570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Resumo: o problema não é só escolher “um algoritmo melhor”; os dados capturam pouco do fenômeno.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0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Regime de trabalho e setor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Achados exploratórios: diferenças visíveis, mas não causais.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mnt/data/ppt_media/image-4-2.png"/>
          <p:cNvPicPr/>
          <p:nvPr/>
        </p:nvPicPr>
        <p:blipFill>
          <a:blip r:embed="rId1"/>
          <a:stretch/>
        </p:blipFill>
        <p:spPr>
          <a:xfrm>
            <a:off x="731520" y="1662840"/>
            <a:ext cx="4753800" cy="261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Image 1" descr="/mnt/data/ppt_media/image-4-3.png"/>
          <p:cNvPicPr/>
          <p:nvPr/>
        </p:nvPicPr>
        <p:blipFill>
          <a:blip r:embed="rId2"/>
          <a:stretch/>
        </p:blipFill>
        <p:spPr>
          <a:xfrm>
            <a:off x="6355080" y="1517400"/>
            <a:ext cx="4388040" cy="290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Shape 4"/>
          <p:cNvSpPr/>
          <p:nvPr/>
        </p:nvSpPr>
        <p:spPr>
          <a:xfrm>
            <a:off x="777240" y="4800600"/>
            <a:ext cx="4753800" cy="867600"/>
          </a:xfrm>
          <a:prstGeom prst="roundRect">
            <a:avLst>
              <a:gd name="adj" fmla="val 842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1005840" y="5010840"/>
            <a:ext cx="21020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REGIME DE TRABALHO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1005840" y="5321880"/>
            <a:ext cx="42508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Remote: burnout médio 1,33; Hybrid: 1,17; Onsite: 0,96. Diferença ≠ causalidade.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7"/>
          <p:cNvSpPr/>
          <p:nvPr/>
        </p:nvSpPr>
        <p:spPr>
          <a:xfrm>
            <a:off x="6355080" y="4800600"/>
            <a:ext cx="4388040" cy="867600"/>
          </a:xfrm>
          <a:prstGeom prst="roundRect">
            <a:avLst>
              <a:gd name="adj" fmla="val 842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8"/>
          <p:cNvSpPr/>
          <p:nvPr/>
        </p:nvSpPr>
        <p:spPr>
          <a:xfrm>
            <a:off x="6583680" y="5010840"/>
            <a:ext cx="913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25C54"/>
                </a:solidFill>
                <a:effectLst/>
                <a:uFillTx/>
                <a:latin typeface="Aptos"/>
                <a:ea typeface="Aptos"/>
              </a:rPr>
              <a:t>SETOR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9"/>
          <p:cNvSpPr/>
          <p:nvPr/>
        </p:nvSpPr>
        <p:spPr>
          <a:xfrm>
            <a:off x="6583680" y="5321880"/>
            <a:ext cx="388512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Technology lidera com 39% de burnout alto; Education tem 26,8%.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0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1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ANÁLISE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Importância das features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O Random Forest distribui importância; o XGBoost concentra em Work_Arrangement.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2" name="Image 0" descr="/mnt/data/ppt_media/image-9-1.png"/>
          <p:cNvPicPr/>
          <p:nvPr/>
        </p:nvPicPr>
        <p:blipFill>
          <a:blip r:embed="rId1"/>
          <a:stretch/>
        </p:blipFill>
        <p:spPr>
          <a:xfrm>
            <a:off x="731520" y="1593720"/>
            <a:ext cx="4982400" cy="330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3" name="Image 1" descr="/mnt/data/ppt_media/image-9-2.png"/>
          <p:cNvPicPr/>
          <p:nvPr/>
        </p:nvPicPr>
        <p:blipFill>
          <a:blip r:embed="rId2"/>
          <a:stretch/>
        </p:blipFill>
        <p:spPr>
          <a:xfrm>
            <a:off x="6263640" y="1593720"/>
            <a:ext cx="4982400" cy="330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Shape 4"/>
          <p:cNvSpPr/>
          <p:nvPr/>
        </p:nvSpPr>
        <p:spPr>
          <a:xfrm>
            <a:off x="822960" y="5230440"/>
            <a:ext cx="4799520" cy="474480"/>
          </a:xfrm>
          <a:prstGeom prst="roundRect">
            <a:avLst>
              <a:gd name="adj" fmla="val 15385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1005840" y="5376600"/>
            <a:ext cx="4388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RF: Age 16,5% · Hours 15,3% · Job_Role 13,4%.</a:t>
            </a:r>
            <a:endParaRPr lang="en-US" sz="9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6"/>
          <p:cNvSpPr/>
          <p:nvPr/>
        </p:nvSpPr>
        <p:spPr>
          <a:xfrm>
            <a:off x="6355080" y="5230440"/>
            <a:ext cx="4799520" cy="474480"/>
          </a:xfrm>
          <a:prstGeom prst="roundRect">
            <a:avLst>
              <a:gd name="adj" fmla="val 15385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7"/>
          <p:cNvSpPr/>
          <p:nvPr/>
        </p:nvSpPr>
        <p:spPr>
          <a:xfrm>
            <a:off x="6537960" y="5376600"/>
            <a:ext cx="4388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XGB: Work_Arrangement 29,3%; Social_Isolation 9,6%.</a:t>
            </a:r>
            <a:endParaRPr lang="en-US" sz="9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8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9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EQUIDADE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O modelo erra mais para algum grupo?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 análise mede MAE separado por gênero e regime de trabalho.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/mnt/data/ppt_media/image-11-1.png"/>
          <p:cNvPicPr/>
          <p:nvPr/>
        </p:nvPicPr>
        <p:blipFill>
          <a:blip r:embed="rId1"/>
          <a:stretch/>
        </p:blipFill>
        <p:spPr>
          <a:xfrm>
            <a:off x="594360" y="1419480"/>
            <a:ext cx="525672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5" name="Image 1" descr="/mnt/data/ppt_media/image-11-2.png"/>
          <p:cNvPicPr/>
          <p:nvPr/>
        </p:nvPicPr>
        <p:blipFill>
          <a:blip r:embed="rId2"/>
          <a:stretch/>
        </p:blipFill>
        <p:spPr>
          <a:xfrm>
            <a:off x="594360" y="3527280"/>
            <a:ext cx="5256720" cy="181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Shape 4"/>
          <p:cNvSpPr/>
          <p:nvPr/>
        </p:nvSpPr>
        <p:spPr>
          <a:xfrm>
            <a:off x="6263640" y="1508760"/>
            <a:ext cx="4936680" cy="3473640"/>
          </a:xfrm>
          <a:prstGeom prst="roundRect">
            <a:avLst>
              <a:gd name="adj" fmla="val 2105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6492240" y="178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INTERPRETAÇÃO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6492240" y="2148840"/>
            <a:ext cx="4296600" cy="16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Por gênero: MAE varia de 0,627 a 0,781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“Prefer not to say” tem MAE maior, possivelmente por menor amostra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Por regime: Remote tem MAE ligeiramente menor na LR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Sem disparidade sistemática grave nesta verificação inicial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7"/>
          <p:cNvSpPr/>
          <p:nvPr/>
        </p:nvSpPr>
        <p:spPr>
          <a:xfrm>
            <a:off x="6263640" y="5193720"/>
            <a:ext cx="4936680" cy="437760"/>
          </a:xfrm>
          <a:prstGeom prst="roundRect">
            <a:avLst>
              <a:gd name="adj" fmla="val 16667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8"/>
          <p:cNvSpPr/>
          <p:nvPr/>
        </p:nvSpPr>
        <p:spPr>
          <a:xfrm>
            <a:off x="6492240" y="5340240"/>
            <a:ext cx="4388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Limitação: equalized odds e demographic parity não foram calculadas.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9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0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PRODUTO FINAL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Sistema de scoring individual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prever.py e predict_burnout() reutilizam os artefatos gerados no treino.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6858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5"/>
          <p:cNvSpPr/>
          <p:nvPr/>
        </p:nvSpPr>
        <p:spPr>
          <a:xfrm>
            <a:off x="7772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dict bruto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6"/>
          <p:cNvSpPr/>
          <p:nvPr/>
        </p:nvSpPr>
        <p:spPr>
          <a:xfrm>
            <a:off x="19476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7"/>
          <p:cNvSpPr/>
          <p:nvPr/>
        </p:nvSpPr>
        <p:spPr>
          <a:xfrm>
            <a:off x="22860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8"/>
          <p:cNvSpPr/>
          <p:nvPr/>
        </p:nvSpPr>
        <p:spPr>
          <a:xfrm>
            <a:off x="23774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ENCODING_MAP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9"/>
          <p:cNvSpPr/>
          <p:nvPr/>
        </p:nvSpPr>
        <p:spPr>
          <a:xfrm>
            <a:off x="35478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0"/>
          <p:cNvSpPr/>
          <p:nvPr/>
        </p:nvSpPr>
        <p:spPr>
          <a:xfrm>
            <a:off x="38862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1"/>
          <p:cNvSpPr/>
          <p:nvPr/>
        </p:nvSpPr>
        <p:spPr>
          <a:xfrm>
            <a:off x="39776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imputer.pkl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2"/>
          <p:cNvSpPr/>
          <p:nvPr/>
        </p:nvSpPr>
        <p:spPr>
          <a:xfrm>
            <a:off x="51480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3"/>
          <p:cNvSpPr/>
          <p:nvPr/>
        </p:nvSpPr>
        <p:spPr>
          <a:xfrm>
            <a:off x="54864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4"/>
          <p:cNvSpPr/>
          <p:nvPr/>
        </p:nvSpPr>
        <p:spPr>
          <a:xfrm>
            <a:off x="55778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scaler.pkl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5"/>
          <p:cNvSpPr/>
          <p:nvPr/>
        </p:nvSpPr>
        <p:spPr>
          <a:xfrm>
            <a:off x="67482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6"/>
          <p:cNvSpPr/>
          <p:nvPr/>
        </p:nvSpPr>
        <p:spPr>
          <a:xfrm>
            <a:off x="70866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7"/>
          <p:cNvSpPr/>
          <p:nvPr/>
        </p:nvSpPr>
        <p:spPr>
          <a:xfrm>
            <a:off x="71780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XGBoost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8"/>
          <p:cNvSpPr/>
          <p:nvPr/>
        </p:nvSpPr>
        <p:spPr>
          <a:xfrm>
            <a:off x="83484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9"/>
          <p:cNvSpPr/>
          <p:nvPr/>
        </p:nvSpPr>
        <p:spPr>
          <a:xfrm>
            <a:off x="86868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123A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20"/>
          <p:cNvSpPr/>
          <p:nvPr/>
        </p:nvSpPr>
        <p:spPr>
          <a:xfrm>
            <a:off x="87782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score [0,1]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21"/>
          <p:cNvSpPr/>
          <p:nvPr/>
        </p:nvSpPr>
        <p:spPr>
          <a:xfrm>
            <a:off x="9948600" y="1920240"/>
            <a:ext cx="273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ED7E8"/>
                </a:solidFill>
                <a:effectLst/>
                <a:uFillTx/>
                <a:latin typeface="Aptos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22"/>
          <p:cNvSpPr/>
          <p:nvPr/>
        </p:nvSpPr>
        <p:spPr>
          <a:xfrm>
            <a:off x="10287000" y="1691640"/>
            <a:ext cx="1233360" cy="748800"/>
          </a:xfrm>
          <a:prstGeom prst="roundRect">
            <a:avLst>
              <a:gd name="adj" fmla="val 9756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3"/>
          <p:cNvSpPr/>
          <p:nvPr/>
        </p:nvSpPr>
        <p:spPr>
          <a:xfrm>
            <a:off x="10378440" y="1920240"/>
            <a:ext cx="105048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classificação</a:t>
            </a:r>
            <a:endParaRPr lang="en-US" sz="8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4"/>
          <p:cNvSpPr/>
          <p:nvPr/>
        </p:nvSpPr>
        <p:spPr>
          <a:xfrm>
            <a:off x="777240" y="3246120"/>
            <a:ext cx="4753800" cy="1416240"/>
          </a:xfrm>
          <a:prstGeom prst="roundRect">
            <a:avLst>
              <a:gd name="adj" fmla="val 5161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5"/>
          <p:cNvSpPr/>
          <p:nvPr/>
        </p:nvSpPr>
        <p:spPr>
          <a:xfrm>
            <a:off x="1005840" y="3493080"/>
            <a:ext cx="164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FAIXAS DE RISCO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26"/>
          <p:cNvSpPr/>
          <p:nvPr/>
        </p:nvSpPr>
        <p:spPr>
          <a:xfrm>
            <a:off x="1005840" y="3840480"/>
            <a:ext cx="41594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[0,0–0,3] Baixo — acompanhar rotina normal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(0,3–0,6) Moderado — atenção recomendada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• [0,6–1,0] Alto — avaliação profissional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27"/>
          <p:cNvSpPr/>
          <p:nvPr/>
        </p:nvSpPr>
        <p:spPr>
          <a:xfrm>
            <a:off x="6126480" y="3246120"/>
            <a:ext cx="4753800" cy="1416240"/>
          </a:xfrm>
          <a:prstGeom prst="roundRect">
            <a:avLst>
              <a:gd name="adj" fmla="val 5161"/>
            </a:avLst>
          </a:prstGeom>
          <a:solidFill>
            <a:srgbClr val="061E2B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8"/>
          <p:cNvSpPr/>
          <p:nvPr/>
        </p:nvSpPr>
        <p:spPr>
          <a:xfrm>
            <a:off x="6355080" y="3493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EXEMPLO DE SAÍDA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9"/>
          <p:cNvSpPr/>
          <p:nvPr/>
        </p:nvSpPr>
        <p:spPr>
          <a:xfrm>
            <a:off x="6355080" y="3886200"/>
            <a:ext cx="34736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score = 0.5924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ED7E8"/>
                </a:solidFill>
                <a:effectLst/>
                <a:uFillTx/>
                <a:latin typeface="Aptos"/>
                <a:ea typeface="Aptos"/>
              </a:rPr>
              <a:t>risco = “moderado”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30"/>
          <p:cNvSpPr/>
          <p:nvPr/>
        </p:nvSpPr>
        <p:spPr>
          <a:xfrm>
            <a:off x="777240" y="5074920"/>
            <a:ext cx="10103040" cy="593280"/>
          </a:xfrm>
          <a:prstGeom prst="roundRect">
            <a:avLst>
              <a:gd name="adj" fmla="val 12308"/>
            </a:avLst>
          </a:prstGeom>
          <a:solidFill>
            <a:srgbClr val="092838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31"/>
          <p:cNvSpPr/>
          <p:nvPr/>
        </p:nvSpPr>
        <p:spPr>
          <a:xfrm>
            <a:off x="1005840" y="5257800"/>
            <a:ext cx="96001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Aviso: o escore é estatístico e relativo. Não substitui avaliação profissional nem deve ser usado isoladamente para decisões sobre indivíduos.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2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3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DISCUSSÃO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Limitações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Honestidade sobre o baixo sinal preditivo e sobre os limites de aplicação.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4"/>
          <p:cNvSpPr/>
          <p:nvPr/>
        </p:nvSpPr>
        <p:spPr>
          <a:xfrm>
            <a:off x="685800" y="15544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5"/>
          <p:cNvSpPr/>
          <p:nvPr/>
        </p:nvSpPr>
        <p:spPr>
          <a:xfrm>
            <a:off x="914400" y="17830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DADOS AUTO-REPORTADOS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6"/>
          <p:cNvSpPr/>
          <p:nvPr/>
        </p:nvSpPr>
        <p:spPr>
          <a:xfrm>
            <a:off x="914400" y="21214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autopercepção e seleção amostral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7"/>
          <p:cNvSpPr/>
          <p:nvPr/>
        </p:nvSpPr>
        <p:spPr>
          <a:xfrm>
            <a:off x="4389120" y="15544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8"/>
          <p:cNvSpPr/>
          <p:nvPr/>
        </p:nvSpPr>
        <p:spPr>
          <a:xfrm>
            <a:off x="4617720" y="17830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BAIXO SINAL PREDITIVO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9"/>
          <p:cNvSpPr/>
          <p:nvPr/>
        </p:nvSpPr>
        <p:spPr>
          <a:xfrm>
            <a:off x="4617720" y="21214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correlação máxima 0,044; R² ≈ 4%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0"/>
          <p:cNvSpPr/>
          <p:nvPr/>
        </p:nvSpPr>
        <p:spPr>
          <a:xfrm>
            <a:off x="8092440" y="15544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1"/>
          <p:cNvSpPr/>
          <p:nvPr/>
        </p:nvSpPr>
        <p:spPr>
          <a:xfrm>
            <a:off x="8321040" y="17830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CIRCULARIDADE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2"/>
          <p:cNvSpPr/>
          <p:nvPr/>
        </p:nvSpPr>
        <p:spPr>
          <a:xfrm>
            <a:off x="8321040" y="21214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Mental_Health_Status contém categoria “Burnout”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"/>
          <p:cNvSpPr/>
          <p:nvPr/>
        </p:nvSpPr>
        <p:spPr>
          <a:xfrm>
            <a:off x="685800" y="31546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4"/>
          <p:cNvSpPr/>
          <p:nvPr/>
        </p:nvSpPr>
        <p:spPr>
          <a:xfrm>
            <a:off x="914400" y="33832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ENCODING NOMINAL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5"/>
          <p:cNvSpPr/>
          <p:nvPr/>
        </p:nvSpPr>
        <p:spPr>
          <a:xfrm>
            <a:off x="914400" y="37216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inteiros sequenciais em variáveis nominais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6"/>
          <p:cNvSpPr/>
          <p:nvPr/>
        </p:nvSpPr>
        <p:spPr>
          <a:xfrm>
            <a:off x="4389120" y="31546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7"/>
          <p:cNvSpPr/>
          <p:nvPr/>
        </p:nvSpPr>
        <p:spPr>
          <a:xfrm>
            <a:off x="4617720" y="33832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SEM TEMPORALIDADE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8"/>
          <p:cNvSpPr/>
          <p:nvPr/>
        </p:nvSpPr>
        <p:spPr>
          <a:xfrm>
            <a:off x="4617720" y="37216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todos os registros de jun/2025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9"/>
          <p:cNvSpPr/>
          <p:nvPr/>
        </p:nvSpPr>
        <p:spPr>
          <a:xfrm>
            <a:off x="8092440" y="3154680"/>
            <a:ext cx="3245040" cy="1050480"/>
          </a:xfrm>
          <a:prstGeom prst="roundRect">
            <a:avLst>
              <a:gd name="adj" fmla="val 6957"/>
            </a:avLst>
          </a:prstGeom>
          <a:solidFill>
            <a:srgbClr val="0D3344"/>
          </a:solidFill>
          <a:ln w="10160">
            <a:solidFill>
              <a:srgbClr val="1A4D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20"/>
          <p:cNvSpPr/>
          <p:nvPr/>
        </p:nvSpPr>
        <p:spPr>
          <a:xfrm>
            <a:off x="8321040" y="3383280"/>
            <a:ext cx="2650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>
                <a:solidFill>
                  <a:srgbClr val="FFB84D"/>
                </a:solidFill>
                <a:effectLst/>
                <a:uFillTx/>
                <a:latin typeface="Aptos"/>
                <a:ea typeface="Aptos"/>
              </a:rPr>
              <a:t>ESCORE ≠ DIAGNÓSTICO</a:t>
            </a:r>
            <a:endParaRPr lang="en-US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1"/>
          <p:cNvSpPr/>
          <p:nvPr/>
        </p:nvSpPr>
        <p:spPr>
          <a:xfrm>
            <a:off x="8321040" y="3721680"/>
            <a:ext cx="2650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uso apenas como apoio estatístico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2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23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502920" y="246960"/>
            <a:ext cx="84114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REFERÊNCIAS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"/>
          <p:cNvSpPr/>
          <p:nvPr/>
        </p:nvSpPr>
        <p:spPr>
          <a:xfrm>
            <a:off x="502920" y="475560"/>
            <a:ext cx="9691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Referências bibliográficas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502920" y="932760"/>
            <a:ext cx="987444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Principais fontes citadas no trabalho.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"/>
          <p:cNvSpPr/>
          <p:nvPr/>
        </p:nvSpPr>
        <p:spPr>
          <a:xfrm>
            <a:off x="685800" y="1417320"/>
            <a:ext cx="1069740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[1] MASLACH, C.; JACKSON, S. E. The measurement of experienced burnout. Journal of Organizational Behavior, 1981.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[2] SALVAGIONI, D. A. J. et al. Physical, psychological and occupational consequences of job burnout. PLOS ONE, 2017.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[3] ONU. Objetivos de Desenvolvimento Sustentável. 2015. https://brasil.un.org/pt-br/sdgs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[4] BREIMAN, L. Random Forests. Machine Learning, 2001.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[5] CHEN, T.; GUESTRIN, C. XGBoost: a scalable tree boosting system. KDD, 2016.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[6] PEDREGOSA, F. et al. Scikit-learn: machine learning in Python. JMLR, 2011.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[7] XGBOOST DEVELOPERS. XGBoost documentation, 2024.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F5FAFC"/>
                </a:solidFill>
                <a:effectLst/>
                <a:uFillTx/>
                <a:latin typeface="Aptos"/>
                <a:ea typeface="Aptos"/>
              </a:rPr>
              <a:t>[8] PURI, P. Remote Work Health Impact Survey 2025. Kaggle, 2025.</a:t>
            </a:r>
            <a:endParaRPr lang="en-US" sz="9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B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Shape 0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71B27"/>
          </a:solidFill>
          <a:ln w="12700">
            <a:solidFill>
              <a:srgbClr val="071B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"/>
          <p:cNvSpPr/>
          <p:nvPr/>
        </p:nvSpPr>
        <p:spPr>
          <a:xfrm>
            <a:off x="1920240" y="2148840"/>
            <a:ext cx="49366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5FAFC"/>
                </a:solidFill>
                <a:effectLst/>
                <a:uFillTx/>
                <a:latin typeface="Aptos Display"/>
                <a:ea typeface="Aptos Display"/>
              </a:rPr>
              <a:t>Obrigado.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"/>
          <p:cNvSpPr/>
          <p:nvPr/>
        </p:nvSpPr>
        <p:spPr>
          <a:xfrm>
            <a:off x="1938600" y="278892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38D0B0"/>
                </a:solidFill>
                <a:effectLst/>
                <a:uFillTx/>
                <a:latin typeface="Aptos"/>
                <a:ea typeface="Aptos"/>
              </a:rPr>
              <a:t>Perguntas?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3"/>
          <p:cNvSpPr/>
          <p:nvPr/>
        </p:nvSpPr>
        <p:spPr>
          <a:xfrm>
            <a:off x="1938600" y="3886200"/>
            <a:ext cx="53024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Breno Porto Pinheiro do Prado — RA 185196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Guilherme Bento Ramos — RA 185226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4"/>
          <p:cNvSpPr/>
          <p:nvPr/>
        </p:nvSpPr>
        <p:spPr>
          <a:xfrm>
            <a:off x="411480" y="6510600"/>
            <a:ext cx="868572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A7C2CE"/>
                </a:solidFill>
                <a:effectLst/>
                <a:uFillTx/>
                <a:latin typeface="Aptos"/>
                <a:ea typeface="Aptos"/>
              </a:rPr>
              <a:t>Predição de Risco de Burnout  ·  UNIFESP  ·  Inteligência Artificial  ·  2026</a:t>
            </a:r>
            <a:endParaRPr lang="en-US" sz="5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5"/>
          <p:cNvSpPr/>
          <p:nvPr/>
        </p:nvSpPr>
        <p:spPr>
          <a:xfrm>
            <a:off x="11064240" y="6510600"/>
            <a:ext cx="639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LibreOffice/26.2.4.2$Linux_X86_64 LibreOffice_project/620$Build-2</Application>
  <AppVersion>15.0000</AppVersion>
  <Words>0</Words>
  <Paragraphs>0</Paragraphs>
  <Company>UNIFESP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2026-07-02T18:38:59Z</dcterms:created>
  <dc:creator>OpenAI</dc:creator>
  <dc:description/>
  <dc:language>en-US</dc:language>
  <cp:lastModifiedBy/>
  <dcterms:modified xsi:type="dcterms:W3CDTF">2026-07-02T16:30:54Z</dcterms:modified>
  <cp:revision>3</cp:revision>
  <dc:subject>Predição de risco de burnout</dc:subject>
  <dc:title>Predição e Classificação de Risco de Burnout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27</vt:i4>
  </property>
  <property fmtid="{D5CDD505-2E9C-101B-9397-08002B2CF9AE}" pid="3" name="PresentationFormat">
    <vt:lpwstr>On-screen Show (16:9)</vt:lpwstr>
  </property>
  <property fmtid="{D5CDD505-2E9C-101B-9397-08002B2CF9AE}" pid="4" name="Slides">
    <vt:i4>27</vt:i4>
  </property>
</Properties>
</file>