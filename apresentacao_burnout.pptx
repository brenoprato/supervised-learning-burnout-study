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21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6ECCA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E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Reg. Linear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0.635</c:v>
                </c:pt>
                <c:pt idx="1">
                  <c:v>0.665</c:v>
                </c:pt>
                <c:pt idx="2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3E8E7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EF2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Reg. Linear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0.764</c:v>
                </c:pt>
                <c:pt idx="1">
                  <c:v>0.784</c:v>
                </c:pt>
                <c:pt idx="2">
                  <c:v>0.766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EEF2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3B5C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B5C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4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A3B5C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B5C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F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3B5C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F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ln w="15240">
            <a:solidFill>
              <a:srgbClr val="6ECC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2895" y="4206240"/>
            <a:ext cx="3108960" cy="3108960"/>
          </a:xfrm>
          <a:prstGeom prst="ellipse">
            <a:avLst/>
          </a:prstGeom>
          <a:ln w="12700">
            <a:solidFill>
              <a:srgbClr val="6ECC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UNIFESP  ·  INTELIGÊNCIA ARTIFICIAL  ·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e Classificação de Risco de Burnout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Aprendizado de Máquina Aplicado à Gestão de Saúde Ocupacional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Breno Porto Pinheiro do Prado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 Bento Ramos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Federal de São Paulo — UNIFESP  ·  São José dos Campos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Burnout como Desafio de Saúde Ocupacional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Burnout: exaustão emocional, despersonalização e baixa realização (Maslach &amp; Jackson, 1981)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 / CID-11 (2019): reconhecido como fenômeno ocupacional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Consequências: absenteísmo, turnover, doenças cardiovasculares e transtornos mentais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permite triagem precoce a partir de dados de RH já coletados</a:t>
            </a:r>
            <a:endParaRPr lang="en-US" sz="17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7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Alinhamento: ODS 3 · ODS 8 · ODS 10 (ONU)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828800"/>
            <a:ext cx="822960" cy="822960"/>
          </a:xfrm>
          <a:prstGeom prst="ellipse">
            <a:avLst/>
          </a:prstGeom>
          <a:solidFill>
            <a:srgbClr val="1A2F3B"/>
          </a:solidFill>
          <a:ln w="19050">
            <a:solidFill>
              <a:srgbClr val="6ECC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23960" y="18745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Bem-Estar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3246120"/>
            <a:ext cx="822960" cy="822960"/>
          </a:xfrm>
          <a:prstGeom prst="ellipse">
            <a:avLst/>
          </a:prstGeom>
          <a:solidFill>
            <a:srgbClr val="1A2F3B"/>
          </a:solidFill>
          <a:ln w="19050">
            <a:solidFill>
              <a:srgbClr val="6ECC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23960" y="3291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4663440"/>
            <a:ext cx="822960" cy="822960"/>
          </a:xfrm>
          <a:prstGeom prst="ellipse">
            <a:avLst/>
          </a:prstGeom>
          <a:solidFill>
            <a:srgbClr val="1A2F3B"/>
          </a:solidFill>
          <a:ln w="19050">
            <a:solidFill>
              <a:srgbClr val="6ECC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23960" y="4709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Desigualdades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&amp;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Buscamos e Com Quais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pipeline de ML para prever e classificar risco de burnout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Health Impact Survey 2025 (Kaggle, jun/2025)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3.157 registros  ·  14 colunas  ·  survey global auto-reportado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Alvo ordinal: Low (23,6%) · Medium (43,3%) · High (33,1%)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 de triagem estatística — não substitui diagnóstico clínico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72784" y="2099096"/>
            <a:ext cx="5468112" cy="3482767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home/claude/deck/burnout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227112"/>
            <a:ext cx="5212080" cy="32267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5989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alvo Burnout_Level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Modular em Cinco Etapas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1A2F3B"/>
          </a:solidFill>
          <a:ln w="15875">
            <a:solidFill>
              <a:srgbClr val="6ECC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2560320"/>
            <a:ext cx="411480" cy="0"/>
          </a:xfrm>
          <a:prstGeom prst="line">
            <a:avLst/>
          </a:prstGeom>
          <a:noFill/>
          <a:ln w="25400">
            <a:solidFill>
              <a:srgbClr val="6ECC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965960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1A2F3B"/>
          </a:solidFill>
          <a:ln w="15875">
            <a:solidFill>
              <a:srgbClr val="6ECC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1965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2560320"/>
            <a:ext cx="411480" cy="0"/>
          </a:xfrm>
          <a:prstGeom prst="line">
            <a:avLst/>
          </a:prstGeom>
          <a:noFill/>
          <a:ln w="25400">
            <a:solidFill>
              <a:srgbClr val="6ECCA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965960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1A2F3B"/>
          </a:solidFill>
          <a:ln w="15875">
            <a:solidFill>
              <a:srgbClr val="6ECC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965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2560320"/>
            <a:ext cx="411480" cy="0"/>
          </a:xfrm>
          <a:prstGeom prst="line">
            <a:avLst/>
          </a:prstGeom>
          <a:noFill/>
          <a:ln w="25400">
            <a:solidFill>
              <a:srgbClr val="6ECCA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78040" y="1965960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1A2F3B"/>
          </a:solidFill>
          <a:ln w="15875">
            <a:solidFill>
              <a:srgbClr val="6ECC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1965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2560320"/>
            <a:ext cx="411480" cy="0"/>
          </a:xfrm>
          <a:prstGeom prst="line">
            <a:avLst/>
          </a:prstGeom>
          <a:noFill/>
          <a:ln w="25400">
            <a:solidFill>
              <a:srgbClr val="6ECC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26880" y="1965960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1A2F3B"/>
          </a:solidFill>
          <a:ln w="15875">
            <a:solidFill>
              <a:srgbClr val="6ECC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1965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= 42 fixo em todas as etapas — reprodutibilidade total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80/20 (2.525 treino · 632 teste) antes de qualquer ajuste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Imputação por mediana e normalização MinMax — ajustadas só no treino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rigorosa de data leakage entre treino e teste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UTILIZADOS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Modelos em Complexidade Crescente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6262F"/>
          </a:solidFill>
          <a:ln w="12700">
            <a:solidFill>
              <a:srgbClr val="6ECC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A2F3B"/>
          </a:solidFill>
          <a:ln w="19050">
            <a:solidFill>
              <a:srgbClr val="6ECC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Combinação linear ponderada (OLS)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peso: Work_Arrangement (w = +0,364)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Vantagem: interpretabilidade direta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6262F"/>
          </a:solidFill>
          <a:ln w="12700">
            <a:solidFill>
              <a:srgbClr val="6ECC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1A2F3B"/>
          </a:solidFill>
          <a:ln w="19050">
            <a:solidFill>
              <a:srgbClr val="6ECC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· bagging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árvores independentes (média)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bagging em cada divisão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Importância via redução de impureza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6262F"/>
          </a:solidFill>
          <a:ln w="12700">
            <a:solidFill>
              <a:srgbClr val="6ECC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103120"/>
            <a:ext cx="502920" cy="502920"/>
          </a:xfrm>
          <a:prstGeom prst="ellipse">
            <a:avLst/>
          </a:prstGeom>
          <a:solidFill>
            <a:srgbClr val="1A2F3B"/>
          </a:solidFill>
          <a:ln w="19050">
            <a:solidFill>
              <a:srgbClr val="6ECC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3154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36576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Árvores aditivas, corrigem erro residual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GridSearchCV: 60 ajustes (5-fold)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config: lr=0,05 · depth=3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Desempenho dos Modelos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teste (n = 632) · escala ordinal 0–2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0372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no teste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03720" y="22402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2A4036"/>
          </a:solidFill>
          <a:ln w="19050">
            <a:solidFill>
              <a:srgbClr val="F381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784080" y="22402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0,040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903720" y="31546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6262F"/>
          </a:solidFill>
          <a:ln w="12700">
            <a:solidFill>
              <a:srgbClr val="2E43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0" y="3154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0,036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903720" y="40690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6262F"/>
          </a:solidFill>
          <a:ln w="12700">
            <a:solidFill>
              <a:srgbClr val="2E43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4069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784080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−0,011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5257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Linear: melhor R² no teste e na validação K-Fold (k=5)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R² negativo — pior que a média simples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 escolhido para o scoring por robustez a nao-linearidades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total de execucao: ~20s (real) com paralelismo n_jobs=-1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IMPORTÂNCIA DAS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Mais Influencia a Predição de Burnout?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" y="1824448"/>
            <a:ext cx="5605272" cy="3803465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deck/feature_importance_random_for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2464"/>
            <a:ext cx="5349240" cy="35474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806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72784" y="1824448"/>
            <a:ext cx="5605272" cy="3803465"/>
          </a:xfrm>
          <a:prstGeom prst="roundRect">
            <a:avLst>
              <a:gd name="adj" fmla="val 16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1" descr="/home/claude/deck/feature_importance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52464"/>
            <a:ext cx="5349240" cy="35474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5806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RF: Age (16,5%) e Hours_Per_Week (15,3%) lideram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50" b="1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 Work_Arrangement domina — 29,3%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EXPLORATÓRIO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 Trabalho Remoto e Burnout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b="1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Remoto: burnout médio 1,33  (escala 0–2)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Híbrido: burnout médio 1,17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Presencial: burnout médio 0,96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 contraintuitivo — maior isolamento social no remoto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5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Social_Isolation_Score: correlação mais forte com o alvo (+0,044)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815584" y="2126429"/>
            <a:ext cx="6016752" cy="3428101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/home/claude/deck/burnout_by_work_lo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254445"/>
            <a:ext cx="5760720" cy="31720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5989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Burnout por Regime de Trabalho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POR SUBGRUPOS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Gênero e Setor: Onde o Risco se Concentra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" y="1807384"/>
            <a:ext cx="5605272" cy="3197512"/>
          </a:xfrm>
          <a:prstGeom prst="roundRect">
            <a:avLst>
              <a:gd name="adj" fmla="val 2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deck/burnout_by_g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35400"/>
            <a:ext cx="5349240" cy="294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3492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 por Gênero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72784" y="1505737"/>
            <a:ext cx="5605272" cy="3800806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1" descr="/home/claude/deck/burnout_by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33753"/>
            <a:ext cx="5349240" cy="35447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5577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Burnout Alto por Setor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57150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Gênero: diferenças pequenas (&lt; 2 p.p.) — sem grupo sistemático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(39,0%) e Marketing (35,6%) lideram em burnout alto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apresenta a menor prevalência (26,8%)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EQUIDADE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Modelos Erram Mais para Algum Grupo?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9184" y="2044910"/>
            <a:ext cx="5650992" cy="212810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home/claude/deck/equity_by_ge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2926"/>
            <a:ext cx="5394960" cy="1872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34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por Gênero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27064" y="2049570"/>
            <a:ext cx="5650992" cy="2118779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1" descr="/home/claude/deck/equity_by_work_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77586"/>
            <a:ext cx="5394960" cy="18627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4434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por Regime de Trabalho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comparável entre subgrupos — sem disparidade sistemática grave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"Prefer not to say": MAE levemente maior (0,72–0,78), baixa amostra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 &amp; LIMITAÇÕES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Interpretando os Resultados com Cautela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baixo (≈ 0,04): esperado em dados de survey auto-reportado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Correlações fracas entre features e alvo (máx. 0,044)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Caráter preditivo, não diagnóstico — apoio à decisão de RH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temporalidade: todos os dados de um único mês (jun/2025)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F3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 formal de fairness recomendada antes de uso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modular, reprodutível, com 3 modelos comparados (SEED=42)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 Linear: melhor R² · XGBoost: usado no scoring (robustez)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viés sistemático identificado por gênero ou regime de trabalho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b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final: prever.py — score de risco acessível ao RH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80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aplicacao real: dados de RH corporativo, auditoria formal de fairness e monitoramento de drift seriam necessarios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Principais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698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MASLACH, C.; JACKSON, S. E. The measurement of experienced burnout. 1981.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SALVAGIONI, D. A. J. et al. Physical, psychological and occupational consequences of job burnout. PLOS ONE, 2017.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BREIMAN, L. Random Forests. Machine Learning, 2001.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T.; GUESTRIN, C. XGBoost: a scalable tree boosting system. ACM KDD, 2016.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DAS NAÇÕES UNIDAS. Objetivos de Desenvolvimento Sustentável. 2015.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PURI, P. Remote Work Health Impact Survey 2025. Kaggle, 2025.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de Risco de Burnout  ·  UNIFESP  ·  Inteligência Artificial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8408" y="502920"/>
            <a:ext cx="4754880" cy="4754880"/>
          </a:xfrm>
          <a:prstGeom prst="ellipse">
            <a:avLst/>
          </a:prstGeom>
          <a:ln w="13970">
            <a:solidFill>
              <a:srgbClr val="6ECC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E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1546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6EC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1206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Breno Porto Pinheiro do Prado  ·  Guilherme Bento Ramos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3B5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UNIFESP — Inteligência Artificial · 2026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30000"/>
            <a:ext cx="10972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dirty="0">
                <a:solidFill>
                  <a:srgbClr val="6ECCAF"/>
                </a:solidFill>
                <a:latin typeface="Arial" pitchFamily="34" charset="0"/>
              </a:rPr>
              <a:t>IMPLEMENTACAO DOS ALGORITMOS — training.py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620000"/>
            <a:ext cx="1097280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EEF2F5"/>
                </a:solidFill>
                <a:latin typeface="Arial" pitchFamily="34" charset="0"/>
              </a:rPr>
              <a:t>Como Cada Algoritmo Foi Configurado e Usado</a:t>
            </a:r>
          </a:p>
        </p:txBody>
      </p:sp>
      <p:sp>
        <p:nvSpPr>
          <p:cNvPr id="4" name="BG1"/>
          <p:cNvSpPr/>
          <p:nvPr/>
        </p:nvSpPr>
        <p:spPr>
          <a:xfrm>
            <a:off x="548640" y="1300000"/>
            <a:ext cx="3566400" cy="5000000"/>
          </a:xfrm>
          <a:prstGeom prst="roundRect">
            <a:avLst>
              <a:gd name="adj" fmla="val 4000"/>
            </a:avLst>
          </a:prstGeom>
          <a:solidFill>
            <a:srgbClr val="0D1F2B"/>
          </a:solidFill>
          <a:ln w="19050">
            <a:solidFill>
              <a:srgbClr val="6ECCAF"/>
            </a:solidFill>
          </a:ln>
        </p:spPr>
      </p:sp>
      <p:sp>
        <p:nvSpPr>
          <p:cNvPr id="5" name="Text1"/>
          <p:cNvSpPr/>
          <p:nvPr/>
        </p:nvSpPr>
        <p:spPr>
          <a:xfrm>
            <a:off x="685800" y="1380000"/>
            <a:ext cx="3292800" cy="484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pt-BR" sz="1300" b="1" dirty="0">
                <a:solidFill>
                  <a:srgbClr val="6ECCAF"/>
                </a:solidFill>
                <a:latin typeface="Arial" pitchFamily="34" charset="0"/>
              </a:rPr>
              <a:t>1. Regressao Linear</a:t>
            </a:r>
          </a:p>
          <a:p>
            <a:pPr indent="0" marL="0">
              <a:buNone/>
            </a:pPr>
            <a:r>
              <a:rPr lang="pt-BR" sz="1050" i="1" dirty="0">
                <a:solidFill>
                  <a:srgbClr val="A3B5C6"/>
                </a:solidFill>
                <a:latin typeface="Arial" pitchFamily="34" charset="0"/>
              </a:rPr>
              <a:t>baseline — OLS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model = LinearRegression()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model.fit(X_train, y_train)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dirty="0">
                <a:solidFill>
                  <a:srgbClr val="A3B5C6"/>
                </a:solidFill>
                <a:latin typeface="Courier New" pitchFamily="49" charset="0"/>
              </a:rPr>
              <a:t># coeficientes por magnitude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coef = pd.Series(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model.coef_,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index=FEATURE_COLUMNS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).sort_values(key=abs)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b="1" dirty="0">
                <a:solidFill>
                  <a:srgbClr val="F38181"/>
                </a:solidFill>
                <a:latin typeface="Arial" pitchFamily="34" charset="0"/>
              </a:rPr>
              <a:t>Maior coef: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Arial" pitchFamily="34" charset="0"/>
              </a:rPr>
              <a:t>Work_Arrangement w=+0,364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b="1" dirty="0">
                <a:solidFill>
                  <a:srgbClr val="6ECCAF"/>
                </a:solidFill>
                <a:latin typeface="Arial" pitchFamily="34" charset="0"/>
              </a:rPr>
              <a:t>Resultado no teste: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Arial" pitchFamily="34" charset="0"/>
              </a:rPr>
              <a:t>MAE=0,635  R²=0,040 (melhor)</a:t>
            </a:r>
          </a:p>
        </p:txBody>
      </p:sp>
      <p:sp>
        <p:nvSpPr>
          <p:cNvPr id="6" name="BG2"/>
          <p:cNvSpPr/>
          <p:nvPr/>
        </p:nvSpPr>
        <p:spPr>
          <a:xfrm>
            <a:off x="4298640" y="1300000"/>
            <a:ext cx="3566400" cy="5000000"/>
          </a:xfrm>
          <a:prstGeom prst="roundRect">
            <a:avLst>
              <a:gd name="adj" fmla="val 4000"/>
            </a:avLst>
          </a:prstGeom>
          <a:solidFill>
            <a:srgbClr val="0D1F2B"/>
          </a:solidFill>
          <a:ln w="12700">
            <a:solidFill>
              <a:srgbClr val="2E4350"/>
            </a:solidFill>
          </a:ln>
        </p:spPr>
      </p:sp>
      <p:sp>
        <p:nvSpPr>
          <p:cNvPr id="7" name="Text2"/>
          <p:cNvSpPr/>
          <p:nvPr/>
        </p:nvSpPr>
        <p:spPr>
          <a:xfrm>
            <a:off x="4435800" y="1380000"/>
            <a:ext cx="3292800" cy="484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pt-BR" sz="1300" b="1" dirty="0">
                <a:solidFill>
                  <a:srgbClr val="A3B5C6"/>
                </a:solidFill>
                <a:latin typeface="Arial" pitchFamily="34" charset="0"/>
              </a:rPr>
              <a:t>2. Random Forest</a:t>
            </a:r>
          </a:p>
          <a:p>
            <a:pPr indent="0" marL="0">
              <a:buNone/>
            </a:pPr>
            <a:r>
              <a:rPr lang="pt-BR" sz="1050" i="1" dirty="0">
                <a:solidFill>
                  <a:srgbClr val="A3B5C6"/>
                </a:solidFill>
                <a:latin typeface="Arial" pitchFamily="34" charset="0"/>
              </a:rPr>
              <a:t>ensemble — bagging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model = RandomForest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Regressor(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n_estimators=100,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random_state=42,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n_jobs=-1)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model.fit(X_train, y)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dirty="0">
                <a:solidFill>
                  <a:srgbClr val="A3B5C6"/>
                </a:solidFill>
                <a:latin typeface="Courier New" pitchFamily="49" charset="0"/>
              </a:rPr>
              <a:t># importancia das features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model.feature_importances_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b="1" dirty="0">
                <a:solidFill>
                  <a:srgbClr val="F38181"/>
                </a:solidFill>
                <a:latin typeface="Arial" pitchFamily="34" charset="0"/>
              </a:rPr>
              <a:t>Top features: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Arial" pitchFamily="34" charset="0"/>
              </a:rPr>
              <a:t>Age 16,5% · Hours 15,3%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b="1" dirty="0">
                <a:solidFill>
                  <a:srgbClr val="6ECCAF"/>
                </a:solidFill>
                <a:latin typeface="Arial" pitchFamily="34" charset="0"/>
              </a:rPr>
              <a:t>Resultado no teste: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Arial" pitchFamily="34" charset="0"/>
              </a:rPr>
              <a:t>MAE=0,665  R²=-0,011 (pior)</a:t>
            </a:r>
          </a:p>
        </p:txBody>
      </p:sp>
      <p:sp>
        <p:nvSpPr>
          <p:cNvPr id="8" name="BG3"/>
          <p:cNvSpPr/>
          <p:nvPr/>
        </p:nvSpPr>
        <p:spPr>
          <a:xfrm>
            <a:off x="8048640" y="1300000"/>
            <a:ext cx="3489600" cy="5000000"/>
          </a:xfrm>
          <a:prstGeom prst="roundRect">
            <a:avLst>
              <a:gd name="adj" fmla="val 4000"/>
            </a:avLst>
          </a:prstGeom>
          <a:solidFill>
            <a:srgbClr val="0D1F2B"/>
          </a:solidFill>
          <a:ln w="12700">
            <a:solidFill>
              <a:srgbClr val="2E4350"/>
            </a:solidFill>
          </a:ln>
        </p:spPr>
      </p:sp>
      <p:sp>
        <p:nvSpPr>
          <p:cNvPr id="9" name="Text3"/>
          <p:cNvSpPr/>
          <p:nvPr/>
        </p:nvSpPr>
        <p:spPr>
          <a:xfrm>
            <a:off x="8185800" y="1380000"/>
            <a:ext cx="3216000" cy="484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pt-BR" sz="1300" b="1" dirty="0">
                <a:solidFill>
                  <a:srgbClr val="A3B5C6"/>
                </a:solidFill>
                <a:latin typeface="Arial" pitchFamily="34" charset="0"/>
              </a:rPr>
              <a:t>3. XGBoost</a:t>
            </a:r>
          </a:p>
          <a:p>
            <a:pPr indent="0" marL="0">
              <a:buNone/>
            </a:pPr>
            <a:r>
              <a:rPr lang="pt-BR" sz="1050" i="1" dirty="0">
                <a:solidFill>
                  <a:srgbClr val="A3B5C6"/>
                </a:solidFill>
                <a:latin typeface="Arial" pitchFamily="34" charset="0"/>
              </a:rPr>
              <a:t>gradient boosting + GridSearchCV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dirty="0">
                <a:solidFill>
                  <a:srgbClr val="A3B5C6"/>
                </a:solidFill>
                <a:latin typeface="Courier New" pitchFamily="49" charset="0"/>
              </a:rPr>
              <a:t># grade testada: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n_estimators:[100,200]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max_depth:[3,5]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lr:[0.05,0.10,0.20]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>GridSearchCV(base,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param_grid,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Courier New" pitchFamily="49" charset="0"/>
              </a:rPr>
              <a:t xml:space="preserve">  cv=5, n_jobs=-1)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b="1" dirty="0">
                <a:solidFill>
                  <a:srgbClr val="F38181"/>
                </a:solidFill>
                <a:latin typeface="Arial" pitchFamily="34" charset="0"/>
              </a:rPr>
              <a:t>12 combos x 5 folds = 60 fits</a:t>
            </a:r>
          </a:p>
          <a:p>
            <a:pPr indent="0" marL="0">
              <a:buNone/>
            </a:pPr>
            <a:r>
              <a:rPr lang="pt-BR" sz="1000" b="1" dirty="0">
                <a:solidFill>
                  <a:srgbClr val="F38181"/>
                </a:solidFill>
                <a:latin typeface="Arial" pitchFamily="34" charset="0"/>
              </a:rPr>
              <a:t>Melhor: lr=0,05 depth=3</a:t>
            </a:r>
          </a:p>
          <a:p>
            <a:pPr indent="0" marL="0">
              <a:buNone/>
            </a:pPr>
            <a:endParaRPr lang="pt-BR" sz="800" dirty="0"/>
          </a:p>
          <a:p>
            <a:pPr indent="0" marL="0">
              <a:buNone/>
            </a:pPr>
            <a:r>
              <a:rPr lang="pt-BR" sz="1000" b="1" dirty="0">
                <a:solidFill>
                  <a:srgbClr val="6ECCAF"/>
                </a:solidFill>
                <a:latin typeface="Arial" pitchFamily="34" charset="0"/>
              </a:rPr>
              <a:t>Resultado no teste: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Arial" pitchFamily="34" charset="0"/>
              </a:rPr>
              <a:t>MAE=0,640  R²=0,036</a:t>
            </a:r>
          </a:p>
          <a:p>
            <a:pPr indent="0" marL="0">
              <a:buNone/>
            </a:pPr>
            <a:r>
              <a:rPr lang="pt-BR" sz="1000" dirty="0">
                <a:solidFill>
                  <a:srgbClr val="EEF2F5"/>
                </a:solidFill>
                <a:latin typeface="Arial" pitchFamily="34" charset="0"/>
              </a:rPr>
              <a:t>usado no scoring (prever.py)</a:t>
            </a:r>
          </a:p>
        </p:txBody>
      </p:sp>
      <p:sp>
        <p:nvSpPr>
          <p:cNvPr id="10" name="Footer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900" dirty="0">
                <a:solidFill>
                  <a:srgbClr val="A3B5C6"/>
                </a:solidFill>
                <a:latin typeface="Arial" pitchFamily="34" charset="0"/>
              </a:rPr>
              <a:t>Predicao de Risco de Burnout  ·  UNIFESP  ·  Inteligencia Artificial</a:t>
            </a:r>
          </a:p>
        </p:txBody>
      </p:sp>
      <p:sp>
        <p:nvSpPr>
          <p:cNvPr id="11" name="PageNum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900" dirty="0">
                <a:solidFill>
                  <a:srgbClr val="A3B5C6"/>
                </a:solidFill>
                <a:latin typeface="Arial" pitchFamily="34" charset="0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e Classificação de Risco de Burnout</dc:title>
  <dc:subject>PptxGenJS Presentation</dc:subject>
  <dc:creator>Breno Porto Pinheiro do Prado; Guilherme Bento Ramos</dc:creator>
  <cp:lastModifiedBy>Breno Porto Pinheiro do Prado; Guilherme Bento Ramos</cp:lastModifiedBy>
  <cp:revision>1</cp:revision>
  <dcterms:created xsi:type="dcterms:W3CDTF">2026-06-18T21:21:36Z</dcterms:created>
  <dcterms:modified xsi:type="dcterms:W3CDTF">2026-06-18T21:21:36Z</dcterms:modified>
</cp:coreProperties>
</file>